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Tomorrow" charset="1" panose="00000000000000000000"/>
      <p:regular r:id="rId28"/>
    </p:embeddedFont>
    <p:embeddedFont>
      <p:font typeface="Architype Van Der Leck" charset="1" panose="02000600030000020004"/>
      <p:regular r:id="rId29"/>
    </p:embeddedFont>
    <p:embeddedFont>
      <p:font typeface="Tomorrow Bold" charset="1" panose="000000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245893" y="2693692"/>
            <a:ext cx="13796213" cy="4656421"/>
            <a:chOff x="0" y="0"/>
            <a:chExt cx="3633571" cy="1226382"/>
          </a:xfrm>
        </p:grpSpPr>
        <p:sp>
          <p:nvSpPr>
            <p:cNvPr name="Freeform 4" id="4"/>
            <p:cNvSpPr/>
            <p:nvPr/>
          </p:nvSpPr>
          <p:spPr>
            <a:xfrm flipH="false" flipV="false" rot="0">
              <a:off x="0" y="0"/>
              <a:ext cx="3633570" cy="1226382"/>
            </a:xfrm>
            <a:custGeom>
              <a:avLst/>
              <a:gdLst/>
              <a:ahLst/>
              <a:cxnLst/>
              <a:rect r="r" b="b" t="t" l="l"/>
              <a:pathLst>
                <a:path h="1226382" w="3633570">
                  <a:moveTo>
                    <a:pt x="0" y="0"/>
                  </a:moveTo>
                  <a:lnTo>
                    <a:pt x="3633570" y="0"/>
                  </a:lnTo>
                  <a:lnTo>
                    <a:pt x="3633570" y="1226382"/>
                  </a:lnTo>
                  <a:lnTo>
                    <a:pt x="0" y="1226382"/>
                  </a:lnTo>
                  <a:close/>
                </a:path>
              </a:pathLst>
            </a:custGeom>
            <a:solidFill>
              <a:srgbClr val="FFFFFF">
                <a:alpha val="10980"/>
              </a:srgbClr>
            </a:solidFill>
          </p:spPr>
        </p:sp>
        <p:sp>
          <p:nvSpPr>
            <p:cNvPr name="TextBox 5" id="5"/>
            <p:cNvSpPr txBox="true"/>
            <p:nvPr/>
          </p:nvSpPr>
          <p:spPr>
            <a:xfrm>
              <a:off x="0" y="-47625"/>
              <a:ext cx="3633571" cy="127400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1304065">
            <a:off x="1156142" y="1120447"/>
            <a:ext cx="2686742" cy="3001440"/>
          </a:xfrm>
          <a:custGeom>
            <a:avLst/>
            <a:gdLst/>
            <a:ahLst/>
            <a:cxnLst/>
            <a:rect r="r" b="b" t="t" l="l"/>
            <a:pathLst>
              <a:path h="3001440" w="2686742">
                <a:moveTo>
                  <a:pt x="0" y="0"/>
                </a:moveTo>
                <a:lnTo>
                  <a:pt x="2686741" y="0"/>
                </a:lnTo>
                <a:lnTo>
                  <a:pt x="2686741" y="3001441"/>
                </a:lnTo>
                <a:lnTo>
                  <a:pt x="0" y="30014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541450">
            <a:off x="14149825" y="6104506"/>
            <a:ext cx="2615300" cy="2761785"/>
          </a:xfrm>
          <a:custGeom>
            <a:avLst/>
            <a:gdLst/>
            <a:ahLst/>
            <a:cxnLst/>
            <a:rect r="r" b="b" t="t" l="l"/>
            <a:pathLst>
              <a:path h="2761785" w="2615300">
                <a:moveTo>
                  <a:pt x="0" y="0"/>
                </a:moveTo>
                <a:lnTo>
                  <a:pt x="2615300" y="0"/>
                </a:lnTo>
                <a:lnTo>
                  <a:pt x="2615300" y="2761785"/>
                </a:lnTo>
                <a:lnTo>
                  <a:pt x="0" y="27617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6337357" y="6102622"/>
            <a:ext cx="5613286" cy="1544408"/>
          </a:xfrm>
          <a:prstGeom prst="rect">
            <a:avLst/>
          </a:prstGeom>
        </p:spPr>
        <p:txBody>
          <a:bodyPr anchor="t" rtlCol="false" tIns="0" lIns="0" bIns="0" rIns="0">
            <a:spAutoFit/>
          </a:bodyPr>
          <a:lstStyle/>
          <a:p>
            <a:pPr algn="ctr">
              <a:lnSpc>
                <a:spcPts val="4106"/>
              </a:lnSpc>
            </a:pPr>
            <a:r>
              <a:rPr lang="en-US" sz="2933">
                <a:solidFill>
                  <a:srgbClr val="FFFFFF"/>
                </a:solidFill>
                <a:latin typeface="Tomorrow"/>
                <a:ea typeface="Tomorrow"/>
                <a:cs typeface="Tomorrow"/>
                <a:sym typeface="Tomorrow"/>
              </a:rPr>
              <a:t>孟芙蘭 </a:t>
            </a:r>
          </a:p>
          <a:p>
            <a:pPr algn="ctr">
              <a:lnSpc>
                <a:spcPts val="4106"/>
              </a:lnSpc>
            </a:pPr>
            <a:r>
              <a:rPr lang="en-US" sz="2933">
                <a:solidFill>
                  <a:srgbClr val="FFFFFF"/>
                </a:solidFill>
                <a:latin typeface="Tomorrow"/>
                <a:ea typeface="Tomorrow"/>
                <a:cs typeface="Tomorrow"/>
                <a:sym typeface="Tomorrow"/>
              </a:rPr>
              <a:t>Shu-Te University</a:t>
            </a:r>
          </a:p>
          <a:p>
            <a:pPr algn="ctr">
              <a:lnSpc>
                <a:spcPts val="4106"/>
              </a:lnSpc>
            </a:pPr>
          </a:p>
        </p:txBody>
      </p:sp>
      <p:sp>
        <p:nvSpPr>
          <p:cNvPr name="TextBox 9" id="9"/>
          <p:cNvSpPr txBox="true"/>
          <p:nvPr/>
        </p:nvSpPr>
        <p:spPr>
          <a:xfrm rot="0">
            <a:off x="3537074" y="3552079"/>
            <a:ext cx="11317701" cy="3334504"/>
          </a:xfrm>
          <a:prstGeom prst="rect">
            <a:avLst/>
          </a:prstGeom>
        </p:spPr>
        <p:txBody>
          <a:bodyPr anchor="t" rtlCol="false" tIns="0" lIns="0" bIns="0" rIns="0">
            <a:spAutoFit/>
          </a:bodyPr>
          <a:lstStyle/>
          <a:p>
            <a:pPr algn="ctr" marL="0" indent="0" lvl="0">
              <a:lnSpc>
                <a:spcPts val="8883"/>
              </a:lnSpc>
              <a:spcBef>
                <a:spcPct val="0"/>
              </a:spcBef>
            </a:pPr>
            <a:r>
              <a:rPr lang="en-US" sz="6345">
                <a:solidFill>
                  <a:srgbClr val="FFFFFF"/>
                </a:solidFill>
                <a:latin typeface="Architype Van Der Leck"/>
                <a:ea typeface="Architype Van Der Leck"/>
                <a:cs typeface="Architype Van Der Leck"/>
                <a:sym typeface="Architype Van Der Leck"/>
              </a:rPr>
              <a:t>Und</a:t>
            </a:r>
            <a:r>
              <a:rPr lang="en-US" sz="6345" strike="noStrike" u="none">
                <a:solidFill>
                  <a:srgbClr val="FFFFFF"/>
                </a:solidFill>
                <a:latin typeface="Architype Van Der Leck"/>
                <a:ea typeface="Architype Van Der Leck"/>
                <a:cs typeface="Architype Van Der Leck"/>
                <a:sym typeface="Architype Van Der Leck"/>
              </a:rPr>
              <a:t>erstanding </a:t>
            </a:r>
          </a:p>
          <a:p>
            <a:pPr algn="ctr" marL="0" indent="0" lvl="0">
              <a:lnSpc>
                <a:spcPts val="8883"/>
              </a:lnSpc>
              <a:spcBef>
                <a:spcPct val="0"/>
              </a:spcBef>
            </a:pPr>
            <a:r>
              <a:rPr lang="en-US" sz="6345" strike="noStrike" u="none">
                <a:solidFill>
                  <a:srgbClr val="FFFFFF"/>
                </a:solidFill>
                <a:latin typeface="Architype Van Der Leck"/>
                <a:ea typeface="Architype Van Der Leck"/>
                <a:cs typeface="Architype Van Der Leck"/>
                <a:sym typeface="Architype Van Der Leck"/>
              </a:rPr>
              <a:t>Databases</a:t>
            </a:r>
          </a:p>
          <a:p>
            <a:pPr algn="ctr" marL="0" indent="0" lvl="0">
              <a:lnSpc>
                <a:spcPts val="8883"/>
              </a:lnSpc>
              <a:spcBef>
                <a:spcPct val="0"/>
              </a:spcBef>
            </a:pPr>
          </a:p>
        </p:txBody>
      </p:sp>
      <p:sp>
        <p:nvSpPr>
          <p:cNvPr name="Freeform 10" id="10"/>
          <p:cNvSpPr/>
          <p:nvPr/>
        </p:nvSpPr>
        <p:spPr>
          <a:xfrm flipH="false" flipV="false" rot="0">
            <a:off x="-496166" y="7993829"/>
            <a:ext cx="4526072" cy="2528943"/>
          </a:xfrm>
          <a:custGeom>
            <a:avLst/>
            <a:gdLst/>
            <a:ahLst/>
            <a:cxnLst/>
            <a:rect r="r" b="b" t="t" l="l"/>
            <a:pathLst>
              <a:path h="2528943" w="4526072">
                <a:moveTo>
                  <a:pt x="0" y="0"/>
                </a:moveTo>
                <a:lnTo>
                  <a:pt x="4526072" y="0"/>
                </a:lnTo>
                <a:lnTo>
                  <a:pt x="4526072" y="2528942"/>
                </a:lnTo>
                <a:lnTo>
                  <a:pt x="0" y="2528942"/>
                </a:lnTo>
                <a:lnTo>
                  <a:pt x="0" y="0"/>
                </a:lnTo>
                <a:close/>
              </a:path>
            </a:pathLst>
          </a:custGeom>
          <a:blipFill>
            <a:blip r:embed="rId7"/>
            <a:stretch>
              <a:fillRect l="0" t="0" r="0" b="0"/>
            </a:stretch>
          </a:blipFill>
        </p:spPr>
      </p:sp>
      <p:sp>
        <p:nvSpPr>
          <p:cNvPr name="Freeform 11" id="11"/>
          <p:cNvSpPr/>
          <p:nvPr/>
        </p:nvSpPr>
        <p:spPr>
          <a:xfrm flipH="false" flipV="false" rot="-10800000">
            <a:off x="14192633" y="-235771"/>
            <a:ext cx="4526072" cy="2528943"/>
          </a:xfrm>
          <a:custGeom>
            <a:avLst/>
            <a:gdLst/>
            <a:ahLst/>
            <a:cxnLst/>
            <a:rect r="r" b="b" t="t" l="l"/>
            <a:pathLst>
              <a:path h="2528943" w="4526072">
                <a:moveTo>
                  <a:pt x="0" y="0"/>
                </a:moveTo>
                <a:lnTo>
                  <a:pt x="4526072" y="0"/>
                </a:lnTo>
                <a:lnTo>
                  <a:pt x="4526072" y="2528942"/>
                </a:lnTo>
                <a:lnTo>
                  <a:pt x="0" y="2528942"/>
                </a:lnTo>
                <a:lnTo>
                  <a:pt x="0" y="0"/>
                </a:lnTo>
                <a:close/>
              </a:path>
            </a:pathLst>
          </a:custGeom>
          <a:blipFill>
            <a:blip r:embed="rId7"/>
            <a:stretch>
              <a:fillRect l="0" t="0" r="0" b="0"/>
            </a:stretch>
          </a:blipFill>
        </p:spPr>
      </p:sp>
      <p:grpSp>
        <p:nvGrpSpPr>
          <p:cNvPr name="Group 12" id="12"/>
          <p:cNvGrpSpPr/>
          <p:nvPr/>
        </p:nvGrpSpPr>
        <p:grpSpPr>
          <a:xfrm rot="0">
            <a:off x="15729015" y="4202312"/>
            <a:ext cx="626183" cy="620693"/>
            <a:chOff x="0" y="0"/>
            <a:chExt cx="164921" cy="163475"/>
          </a:xfrm>
        </p:grpSpPr>
        <p:sp>
          <p:nvSpPr>
            <p:cNvPr name="Freeform 13" id="13"/>
            <p:cNvSpPr/>
            <p:nvPr/>
          </p:nvSpPr>
          <p:spPr>
            <a:xfrm flipH="false" flipV="false" rot="0">
              <a:off x="0" y="0"/>
              <a:ext cx="164921" cy="163475"/>
            </a:xfrm>
            <a:custGeom>
              <a:avLst/>
              <a:gdLst/>
              <a:ahLst/>
              <a:cxnLst/>
              <a:rect r="r" b="b" t="t" l="l"/>
              <a:pathLst>
                <a:path h="163475" w="164921">
                  <a:moveTo>
                    <a:pt x="0" y="0"/>
                  </a:moveTo>
                  <a:lnTo>
                    <a:pt x="164921" y="0"/>
                  </a:lnTo>
                  <a:lnTo>
                    <a:pt x="164921" y="163475"/>
                  </a:lnTo>
                  <a:lnTo>
                    <a:pt x="0" y="163475"/>
                  </a:lnTo>
                  <a:close/>
                </a:path>
              </a:pathLst>
            </a:custGeom>
            <a:solidFill>
              <a:srgbClr val="0054C5"/>
            </a:solidFill>
          </p:spPr>
        </p:sp>
        <p:sp>
          <p:nvSpPr>
            <p:cNvPr name="TextBox 14" id="14"/>
            <p:cNvSpPr txBox="true"/>
            <p:nvPr/>
          </p:nvSpPr>
          <p:spPr>
            <a:xfrm>
              <a:off x="0" y="-47625"/>
              <a:ext cx="164921" cy="2111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787048" y="5143500"/>
            <a:ext cx="418486" cy="397926"/>
            <a:chOff x="0" y="0"/>
            <a:chExt cx="110219" cy="104803"/>
          </a:xfrm>
        </p:grpSpPr>
        <p:sp>
          <p:nvSpPr>
            <p:cNvPr name="Freeform 16" id="16"/>
            <p:cNvSpPr/>
            <p:nvPr/>
          </p:nvSpPr>
          <p:spPr>
            <a:xfrm flipH="false" flipV="false" rot="0">
              <a:off x="0" y="0"/>
              <a:ext cx="110219" cy="104803"/>
            </a:xfrm>
            <a:custGeom>
              <a:avLst/>
              <a:gdLst/>
              <a:ahLst/>
              <a:cxnLst/>
              <a:rect r="r" b="b" t="t" l="l"/>
              <a:pathLst>
                <a:path h="104803" w="110219">
                  <a:moveTo>
                    <a:pt x="0" y="0"/>
                  </a:moveTo>
                  <a:lnTo>
                    <a:pt x="110219" y="0"/>
                  </a:lnTo>
                  <a:lnTo>
                    <a:pt x="110219" y="104803"/>
                  </a:lnTo>
                  <a:lnTo>
                    <a:pt x="0" y="104803"/>
                  </a:lnTo>
                  <a:close/>
                </a:path>
              </a:pathLst>
            </a:custGeom>
            <a:solidFill>
              <a:srgbClr val="0054C5"/>
            </a:solidFill>
          </p:spPr>
        </p:sp>
        <p:sp>
          <p:nvSpPr>
            <p:cNvPr name="TextBox 17" id="17"/>
            <p:cNvSpPr txBox="true"/>
            <p:nvPr/>
          </p:nvSpPr>
          <p:spPr>
            <a:xfrm>
              <a:off x="0" y="-47625"/>
              <a:ext cx="110219" cy="152428"/>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936712" y="5668780"/>
            <a:ext cx="291131" cy="270571"/>
            <a:chOff x="0" y="0"/>
            <a:chExt cx="76677" cy="71261"/>
          </a:xfrm>
        </p:grpSpPr>
        <p:sp>
          <p:nvSpPr>
            <p:cNvPr name="Freeform 19" id="19"/>
            <p:cNvSpPr/>
            <p:nvPr/>
          </p:nvSpPr>
          <p:spPr>
            <a:xfrm flipH="false" flipV="false" rot="0">
              <a:off x="0" y="0"/>
              <a:ext cx="76677" cy="71261"/>
            </a:xfrm>
            <a:custGeom>
              <a:avLst/>
              <a:gdLst/>
              <a:ahLst/>
              <a:cxnLst/>
              <a:rect r="r" b="b" t="t" l="l"/>
              <a:pathLst>
                <a:path h="71261" w="76677">
                  <a:moveTo>
                    <a:pt x="0" y="0"/>
                  </a:moveTo>
                  <a:lnTo>
                    <a:pt x="76677" y="0"/>
                  </a:lnTo>
                  <a:lnTo>
                    <a:pt x="76677" y="71261"/>
                  </a:lnTo>
                  <a:lnTo>
                    <a:pt x="0" y="71261"/>
                  </a:lnTo>
                  <a:close/>
                </a:path>
              </a:pathLst>
            </a:custGeom>
            <a:solidFill>
              <a:srgbClr val="0054C5"/>
            </a:solidFill>
          </p:spPr>
        </p:sp>
        <p:sp>
          <p:nvSpPr>
            <p:cNvPr name="TextBox 20" id="20"/>
            <p:cNvSpPr txBox="true"/>
            <p:nvPr/>
          </p:nvSpPr>
          <p:spPr>
            <a:xfrm>
              <a:off x="0" y="-47625"/>
              <a:ext cx="76677" cy="118886"/>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2036650" y="6169297"/>
            <a:ext cx="418486" cy="397926"/>
            <a:chOff x="0" y="0"/>
            <a:chExt cx="110219" cy="104803"/>
          </a:xfrm>
        </p:grpSpPr>
        <p:sp>
          <p:nvSpPr>
            <p:cNvPr name="Freeform 22" id="22"/>
            <p:cNvSpPr/>
            <p:nvPr/>
          </p:nvSpPr>
          <p:spPr>
            <a:xfrm flipH="false" flipV="false" rot="0">
              <a:off x="0" y="0"/>
              <a:ext cx="110219" cy="104803"/>
            </a:xfrm>
            <a:custGeom>
              <a:avLst/>
              <a:gdLst/>
              <a:ahLst/>
              <a:cxnLst/>
              <a:rect r="r" b="b" t="t" l="l"/>
              <a:pathLst>
                <a:path h="104803" w="110219">
                  <a:moveTo>
                    <a:pt x="0" y="0"/>
                  </a:moveTo>
                  <a:lnTo>
                    <a:pt x="110219" y="0"/>
                  </a:lnTo>
                  <a:lnTo>
                    <a:pt x="110219" y="104803"/>
                  </a:lnTo>
                  <a:lnTo>
                    <a:pt x="0" y="104803"/>
                  </a:lnTo>
                  <a:close/>
                </a:path>
              </a:pathLst>
            </a:custGeom>
            <a:solidFill>
              <a:srgbClr val="0054C5"/>
            </a:solidFill>
          </p:spPr>
        </p:sp>
        <p:sp>
          <p:nvSpPr>
            <p:cNvPr name="TextBox 23" id="23"/>
            <p:cNvSpPr txBox="true"/>
            <p:nvPr/>
          </p:nvSpPr>
          <p:spPr>
            <a:xfrm>
              <a:off x="0" y="-47625"/>
              <a:ext cx="110219" cy="152428"/>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0">
            <a:off x="2652804" y="6886583"/>
            <a:ext cx="291131" cy="270571"/>
            <a:chOff x="0" y="0"/>
            <a:chExt cx="76677" cy="71261"/>
          </a:xfrm>
        </p:grpSpPr>
        <p:sp>
          <p:nvSpPr>
            <p:cNvPr name="Freeform 25" id="25"/>
            <p:cNvSpPr/>
            <p:nvPr/>
          </p:nvSpPr>
          <p:spPr>
            <a:xfrm flipH="false" flipV="false" rot="0">
              <a:off x="0" y="0"/>
              <a:ext cx="76677" cy="71261"/>
            </a:xfrm>
            <a:custGeom>
              <a:avLst/>
              <a:gdLst/>
              <a:ahLst/>
              <a:cxnLst/>
              <a:rect r="r" b="b" t="t" l="l"/>
              <a:pathLst>
                <a:path h="71261" w="76677">
                  <a:moveTo>
                    <a:pt x="0" y="0"/>
                  </a:moveTo>
                  <a:lnTo>
                    <a:pt x="76677" y="0"/>
                  </a:lnTo>
                  <a:lnTo>
                    <a:pt x="76677" y="71261"/>
                  </a:lnTo>
                  <a:lnTo>
                    <a:pt x="0" y="71261"/>
                  </a:lnTo>
                  <a:close/>
                </a:path>
              </a:pathLst>
            </a:custGeom>
            <a:solidFill>
              <a:srgbClr val="0054C5"/>
            </a:solidFill>
          </p:spPr>
        </p:sp>
        <p:sp>
          <p:nvSpPr>
            <p:cNvPr name="TextBox 26" id="26"/>
            <p:cNvSpPr txBox="true"/>
            <p:nvPr/>
          </p:nvSpPr>
          <p:spPr>
            <a:xfrm>
              <a:off x="0" y="-47625"/>
              <a:ext cx="76677" cy="118886"/>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2036650" y="7350113"/>
            <a:ext cx="291131" cy="270571"/>
            <a:chOff x="0" y="0"/>
            <a:chExt cx="76677" cy="71261"/>
          </a:xfrm>
        </p:grpSpPr>
        <p:sp>
          <p:nvSpPr>
            <p:cNvPr name="Freeform 28" id="28"/>
            <p:cNvSpPr/>
            <p:nvPr/>
          </p:nvSpPr>
          <p:spPr>
            <a:xfrm flipH="false" flipV="false" rot="0">
              <a:off x="0" y="0"/>
              <a:ext cx="76677" cy="71261"/>
            </a:xfrm>
            <a:custGeom>
              <a:avLst/>
              <a:gdLst/>
              <a:ahLst/>
              <a:cxnLst/>
              <a:rect r="r" b="b" t="t" l="l"/>
              <a:pathLst>
                <a:path h="71261" w="76677">
                  <a:moveTo>
                    <a:pt x="0" y="0"/>
                  </a:moveTo>
                  <a:lnTo>
                    <a:pt x="76677" y="0"/>
                  </a:lnTo>
                  <a:lnTo>
                    <a:pt x="76677" y="71261"/>
                  </a:lnTo>
                  <a:lnTo>
                    <a:pt x="0" y="71261"/>
                  </a:lnTo>
                  <a:close/>
                </a:path>
              </a:pathLst>
            </a:custGeom>
            <a:solidFill>
              <a:srgbClr val="0054C5"/>
            </a:solidFill>
          </p:spPr>
        </p:sp>
        <p:sp>
          <p:nvSpPr>
            <p:cNvPr name="TextBox 29" id="29"/>
            <p:cNvSpPr txBox="true"/>
            <p:nvPr/>
          </p:nvSpPr>
          <p:spPr>
            <a:xfrm>
              <a:off x="0" y="-47625"/>
              <a:ext cx="76677" cy="118886"/>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4188940" y="1412908"/>
            <a:ext cx="12061802" cy="8101449"/>
            <a:chOff x="0" y="0"/>
            <a:chExt cx="3176771" cy="2133715"/>
          </a:xfrm>
        </p:grpSpPr>
        <p:sp>
          <p:nvSpPr>
            <p:cNvPr name="Freeform 4" id="4"/>
            <p:cNvSpPr/>
            <p:nvPr/>
          </p:nvSpPr>
          <p:spPr>
            <a:xfrm flipH="false" flipV="false" rot="0">
              <a:off x="0" y="0"/>
              <a:ext cx="3176771" cy="2133715"/>
            </a:xfrm>
            <a:custGeom>
              <a:avLst/>
              <a:gdLst/>
              <a:ahLst/>
              <a:cxnLst/>
              <a:rect r="r" b="b" t="t" l="l"/>
              <a:pathLst>
                <a:path h="2133715" w="3176771">
                  <a:moveTo>
                    <a:pt x="0" y="0"/>
                  </a:moveTo>
                  <a:lnTo>
                    <a:pt x="3176771" y="0"/>
                  </a:lnTo>
                  <a:lnTo>
                    <a:pt x="3176771" y="2133715"/>
                  </a:lnTo>
                  <a:lnTo>
                    <a:pt x="0" y="2133715"/>
                  </a:lnTo>
                  <a:close/>
                </a:path>
              </a:pathLst>
            </a:custGeom>
            <a:solidFill>
              <a:srgbClr val="FFFFFF">
                <a:alpha val="10980"/>
              </a:srgbClr>
            </a:solidFill>
          </p:spPr>
        </p:sp>
        <p:sp>
          <p:nvSpPr>
            <p:cNvPr name="TextBox 5" id="5"/>
            <p:cNvSpPr txBox="true"/>
            <p:nvPr/>
          </p:nvSpPr>
          <p:spPr>
            <a:xfrm>
              <a:off x="0" y="-47625"/>
              <a:ext cx="3176771" cy="2181340"/>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9588" y="751692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3"/>
            <a:stretch>
              <a:fillRect l="0" t="0" r="0" b="0"/>
            </a:stretch>
          </a:blipFill>
        </p:spPr>
      </p:sp>
      <p:grpSp>
        <p:nvGrpSpPr>
          <p:cNvPr name="Group 7" id="7"/>
          <p:cNvGrpSpPr/>
          <p:nvPr/>
        </p:nvGrpSpPr>
        <p:grpSpPr>
          <a:xfrm rot="0">
            <a:off x="15214776" y="644492"/>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6250742" y="2393082"/>
            <a:ext cx="626183" cy="566519"/>
            <a:chOff x="0" y="0"/>
            <a:chExt cx="164921" cy="149207"/>
          </a:xfrm>
        </p:grpSpPr>
        <p:sp>
          <p:nvSpPr>
            <p:cNvPr name="Freeform 11" id="11"/>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2" id="12"/>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6250742" y="1412908"/>
            <a:ext cx="310192" cy="299142"/>
            <a:chOff x="0" y="0"/>
            <a:chExt cx="81697" cy="78786"/>
          </a:xfrm>
        </p:grpSpPr>
        <p:sp>
          <p:nvSpPr>
            <p:cNvPr name="Freeform 14" id="14"/>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5" id="15"/>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569070" y="6854327"/>
            <a:ext cx="310192" cy="299142"/>
            <a:chOff x="0" y="0"/>
            <a:chExt cx="81697" cy="78786"/>
          </a:xfrm>
        </p:grpSpPr>
        <p:sp>
          <p:nvSpPr>
            <p:cNvPr name="Freeform 17" id="17"/>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8" id="18"/>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2333412" y="7516926"/>
            <a:ext cx="310192" cy="299142"/>
            <a:chOff x="0" y="0"/>
            <a:chExt cx="81697" cy="78786"/>
          </a:xfrm>
        </p:grpSpPr>
        <p:sp>
          <p:nvSpPr>
            <p:cNvPr name="Freeform 20" id="2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1" id="2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753292" y="2676341"/>
            <a:ext cx="3160240" cy="3935670"/>
          </a:xfrm>
          <a:custGeom>
            <a:avLst/>
            <a:gdLst/>
            <a:ahLst/>
            <a:cxnLst/>
            <a:rect r="r" b="b" t="t" l="l"/>
            <a:pathLst>
              <a:path h="3935670" w="3160240">
                <a:moveTo>
                  <a:pt x="0" y="0"/>
                </a:moveTo>
                <a:lnTo>
                  <a:pt x="3160240" y="0"/>
                </a:lnTo>
                <a:lnTo>
                  <a:pt x="3160240" y="3935670"/>
                </a:lnTo>
                <a:lnTo>
                  <a:pt x="0" y="3935670"/>
                </a:lnTo>
                <a:lnTo>
                  <a:pt x="0" y="0"/>
                </a:lnTo>
                <a:close/>
              </a:path>
            </a:pathLst>
          </a:custGeom>
          <a:blipFill>
            <a:blip r:embed="rId4"/>
            <a:stretch>
              <a:fillRect l="0" t="0" r="0" b="0"/>
            </a:stretch>
          </a:blipFill>
        </p:spPr>
      </p:sp>
      <p:sp>
        <p:nvSpPr>
          <p:cNvPr name="TextBox 23" id="23"/>
          <p:cNvSpPr txBox="true"/>
          <p:nvPr/>
        </p:nvSpPr>
        <p:spPr>
          <a:xfrm rot="0">
            <a:off x="485864" y="517240"/>
            <a:ext cx="7406153" cy="660571"/>
          </a:xfrm>
          <a:prstGeom prst="rect">
            <a:avLst/>
          </a:prstGeom>
        </p:spPr>
        <p:txBody>
          <a:bodyPr anchor="t" rtlCol="false" tIns="0" lIns="0" bIns="0" rIns="0">
            <a:spAutoFit/>
          </a:bodyPr>
          <a:lstStyle/>
          <a:p>
            <a:pPr algn="ctr">
              <a:lnSpc>
                <a:spcPts val="5418"/>
              </a:lnSpc>
            </a:pPr>
            <a:r>
              <a:rPr lang="en-US" sz="3870">
                <a:solidFill>
                  <a:srgbClr val="FFFFFF"/>
                </a:solidFill>
                <a:latin typeface="Architype Van Der Leck"/>
                <a:ea typeface="Architype Van Der Leck"/>
                <a:cs typeface="Architype Van Der Leck"/>
                <a:sym typeface="Architype Van Der Leck"/>
              </a:rPr>
              <a:t>About the Author</a:t>
            </a:r>
          </a:p>
        </p:txBody>
      </p:sp>
      <p:sp>
        <p:nvSpPr>
          <p:cNvPr name="TextBox 24" id="24"/>
          <p:cNvSpPr txBox="true"/>
          <p:nvPr/>
        </p:nvSpPr>
        <p:spPr>
          <a:xfrm rot="0">
            <a:off x="4538998" y="1750846"/>
            <a:ext cx="11423099" cy="7763511"/>
          </a:xfrm>
          <a:prstGeom prst="rect">
            <a:avLst/>
          </a:prstGeom>
        </p:spPr>
        <p:txBody>
          <a:bodyPr anchor="t" rtlCol="false" tIns="0" lIns="0" bIns="0" rIns="0">
            <a:spAutoFit/>
          </a:bodyPr>
          <a:lstStyle/>
          <a:p>
            <a:pPr algn="just">
              <a:lnSpc>
                <a:spcPts val="3639"/>
              </a:lnSpc>
              <a:spcBef>
                <a:spcPct val="0"/>
              </a:spcBef>
            </a:pPr>
            <a:r>
              <a:rPr lang="en-US" sz="2599">
                <a:solidFill>
                  <a:srgbClr val="FFFFFF"/>
                </a:solidFill>
                <a:latin typeface="Tomorrow"/>
                <a:ea typeface="Tomorrow"/>
                <a:cs typeface="Tomorrow"/>
                <a:sym typeface="Tomorrow"/>
              </a:rPr>
              <a:t>      </a:t>
            </a:r>
            <a:r>
              <a:rPr lang="en-US" sz="2599">
                <a:solidFill>
                  <a:srgbClr val="FFFFFF"/>
                </a:solidFill>
                <a:latin typeface="Tomorrow"/>
                <a:ea typeface="Tomorrow"/>
                <a:cs typeface="Tomorrow"/>
                <a:sym typeface="Tomorrow"/>
              </a:rPr>
              <a:t>Franzyn Leane Manzanades 孟芙蘭 is an international student from Argao, Cebu, Philippines—a town rich in heritage and strong community values.  Franzyn pursued her senior high school studies in the Science, Technology, Engineering, and Mathematics (STEM) strand, graduating with high honors. She briefly studied Mechanical Engineering and Military Science at a recognized state university before choosing to further her education in Taiwan. Currently, she is undertaking a Bachelor’s degree in Information Management at Shu-Te University, where she combines technical knowledge with practical experience.</a:t>
            </a:r>
          </a:p>
          <a:p>
            <a:pPr algn="just">
              <a:lnSpc>
                <a:spcPts val="3639"/>
              </a:lnSpc>
              <a:spcBef>
                <a:spcPct val="0"/>
              </a:spcBef>
            </a:pPr>
            <a:r>
              <a:rPr lang="en-US" sz="2599">
                <a:solidFill>
                  <a:srgbClr val="FFFFFF"/>
                </a:solidFill>
                <a:latin typeface="Tomorrow"/>
                <a:ea typeface="Tomorrow"/>
                <a:cs typeface="Tomorrow"/>
                <a:sym typeface="Tomorrow"/>
              </a:rPr>
              <a:t>     </a:t>
            </a:r>
          </a:p>
          <a:p>
            <a:pPr algn="just">
              <a:lnSpc>
                <a:spcPts val="3639"/>
              </a:lnSpc>
              <a:spcBef>
                <a:spcPct val="0"/>
              </a:spcBef>
            </a:pPr>
            <a:r>
              <a:rPr lang="en-US" sz="2599">
                <a:solidFill>
                  <a:srgbClr val="FFFFFF"/>
                </a:solidFill>
                <a:latin typeface="Tomorrow"/>
                <a:ea typeface="Tomorrow"/>
                <a:cs typeface="Tomorrow"/>
                <a:sym typeface="Tomorrow"/>
              </a:rPr>
              <a:t>     Her motivation to learn is deeply rooted in the desire to improve herself and support her family. Living and working in Taiwan has enriched her both personally and professionally—teaching her discipline, responsibility, and cultural understanding. Franzyn hopes to bring back the lessons and skills she has gained to her home country, contributing to her community and inspiring others to pursue their dreams.</a:t>
            </a:r>
          </a:p>
          <a:p>
            <a:pPr algn="ctr">
              <a:lnSpc>
                <a:spcPts val="363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24166" y="1579328"/>
            <a:ext cx="14839668" cy="7698919"/>
            <a:chOff x="0" y="0"/>
            <a:chExt cx="3908390" cy="2027699"/>
          </a:xfrm>
        </p:grpSpPr>
        <p:sp>
          <p:nvSpPr>
            <p:cNvPr name="Freeform 4" id="4"/>
            <p:cNvSpPr/>
            <p:nvPr/>
          </p:nvSpPr>
          <p:spPr>
            <a:xfrm flipH="false" flipV="false" rot="0">
              <a:off x="0" y="0"/>
              <a:ext cx="3908390" cy="2027699"/>
            </a:xfrm>
            <a:custGeom>
              <a:avLst/>
              <a:gdLst/>
              <a:ahLst/>
              <a:cxnLst/>
              <a:rect r="r" b="b" t="t" l="l"/>
              <a:pathLst>
                <a:path h="2027699" w="3908390">
                  <a:moveTo>
                    <a:pt x="0" y="0"/>
                  </a:moveTo>
                  <a:lnTo>
                    <a:pt x="3908390" y="0"/>
                  </a:lnTo>
                  <a:lnTo>
                    <a:pt x="3908390" y="2027699"/>
                  </a:lnTo>
                  <a:lnTo>
                    <a:pt x="0" y="2027699"/>
                  </a:lnTo>
                  <a:close/>
                </a:path>
              </a:pathLst>
            </a:custGeom>
            <a:solidFill>
              <a:srgbClr val="FFFFFF">
                <a:alpha val="10980"/>
              </a:srgbClr>
            </a:solidFill>
          </p:spPr>
        </p:sp>
        <p:sp>
          <p:nvSpPr>
            <p:cNvPr name="TextBox 5" id="5"/>
            <p:cNvSpPr txBox="true"/>
            <p:nvPr/>
          </p:nvSpPr>
          <p:spPr>
            <a:xfrm>
              <a:off x="0" y="-47625"/>
              <a:ext cx="3908390" cy="2075324"/>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9588" y="751692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3"/>
            <a:stretch>
              <a:fillRect l="0" t="0" r="0" b="0"/>
            </a:stretch>
          </a:blipFill>
        </p:spPr>
      </p:sp>
      <p:grpSp>
        <p:nvGrpSpPr>
          <p:cNvPr name="Group 7" id="7"/>
          <p:cNvGrpSpPr/>
          <p:nvPr/>
        </p:nvGrpSpPr>
        <p:grpSpPr>
          <a:xfrm rot="0">
            <a:off x="15237286" y="1028700"/>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4921078" y="207785"/>
            <a:ext cx="8445844" cy="1521114"/>
          </a:xfrm>
          <a:prstGeom prst="rect">
            <a:avLst/>
          </a:prstGeom>
        </p:spPr>
        <p:txBody>
          <a:bodyPr anchor="t" rtlCol="false" tIns="0" lIns="0" bIns="0" rIns="0">
            <a:spAutoFit/>
          </a:bodyPr>
          <a:lstStyle/>
          <a:p>
            <a:pPr algn="ctr">
              <a:lnSpc>
                <a:spcPts val="6178"/>
              </a:lnSpc>
            </a:pPr>
            <a:r>
              <a:rPr lang="en-US" sz="4413">
                <a:solidFill>
                  <a:srgbClr val="FFFFFF"/>
                </a:solidFill>
                <a:latin typeface="Architype Van Der Leck"/>
                <a:ea typeface="Architype Van Der Leck"/>
                <a:cs typeface="Architype Van Der Leck"/>
                <a:sym typeface="Architype Van Der Leck"/>
              </a:rPr>
              <a:t>Table of Contents</a:t>
            </a:r>
          </a:p>
          <a:p>
            <a:pPr algn="ctr">
              <a:lnSpc>
                <a:spcPts val="6178"/>
              </a:lnSpc>
            </a:pPr>
          </a:p>
        </p:txBody>
      </p:sp>
      <p:sp>
        <p:nvSpPr>
          <p:cNvPr name="TextBox 11" id="11"/>
          <p:cNvSpPr txBox="true"/>
          <p:nvPr/>
        </p:nvSpPr>
        <p:spPr>
          <a:xfrm rot="0">
            <a:off x="2172664" y="1811795"/>
            <a:ext cx="7071484" cy="4481195"/>
          </a:xfrm>
          <a:prstGeom prst="rect">
            <a:avLst/>
          </a:prstGeom>
        </p:spPr>
        <p:txBody>
          <a:bodyPr anchor="t" rtlCol="false" tIns="0" lIns="0" bIns="0" rIns="0">
            <a:spAutoFit/>
          </a:bodyPr>
          <a:lstStyle/>
          <a:p>
            <a:pPr algn="just">
              <a:lnSpc>
                <a:spcPts val="4479"/>
              </a:lnSpc>
            </a:pPr>
            <a:r>
              <a:rPr lang="en-US" sz="3199">
                <a:solidFill>
                  <a:srgbClr val="FFFFFF"/>
                </a:solidFill>
                <a:latin typeface="Tomorrow"/>
                <a:ea typeface="Tomorrow"/>
                <a:cs typeface="Tomorrow"/>
                <a:sym typeface="Tomorrow"/>
              </a:rPr>
              <a:t> I. Preface</a:t>
            </a:r>
          </a:p>
          <a:p>
            <a:pPr algn="just">
              <a:lnSpc>
                <a:spcPts val="4479"/>
              </a:lnSpc>
            </a:pPr>
            <a:r>
              <a:rPr lang="en-US" sz="3199">
                <a:solidFill>
                  <a:srgbClr val="FFFFFF"/>
                </a:solidFill>
                <a:latin typeface="Tomorrow"/>
                <a:ea typeface="Tomorrow"/>
                <a:cs typeface="Tomorrow"/>
                <a:sym typeface="Tomorrow"/>
              </a:rPr>
              <a:t> II. Introduction to Databases</a:t>
            </a:r>
          </a:p>
          <a:p>
            <a:pPr algn="just">
              <a:lnSpc>
                <a:spcPts val="4479"/>
              </a:lnSpc>
            </a:pPr>
            <a:r>
              <a:rPr lang="en-US" sz="3199">
                <a:solidFill>
                  <a:srgbClr val="FFFFFF"/>
                </a:solidFill>
                <a:latin typeface="Tomorrow"/>
                <a:ea typeface="Tomorrow"/>
                <a:cs typeface="Tomorrow"/>
                <a:sym typeface="Tomorrow"/>
              </a:rPr>
              <a:t>III. Types of Databases</a:t>
            </a:r>
          </a:p>
          <a:p>
            <a:pPr algn="just">
              <a:lnSpc>
                <a:spcPts val="4479"/>
              </a:lnSpc>
            </a:pPr>
            <a:r>
              <a:rPr lang="en-US" sz="3199">
                <a:solidFill>
                  <a:srgbClr val="FFFFFF"/>
                </a:solidFill>
                <a:latin typeface="Tomorrow"/>
                <a:ea typeface="Tomorrow"/>
                <a:cs typeface="Tomorrow"/>
                <a:sym typeface="Tomorrow"/>
              </a:rPr>
              <a:t>IV. Components of a Database</a:t>
            </a:r>
          </a:p>
          <a:p>
            <a:pPr algn="just">
              <a:lnSpc>
                <a:spcPts val="4479"/>
              </a:lnSpc>
            </a:pPr>
            <a:r>
              <a:rPr lang="en-US" sz="3199">
                <a:solidFill>
                  <a:srgbClr val="FFFFFF"/>
                </a:solidFill>
                <a:latin typeface="Tomorrow"/>
                <a:ea typeface="Tomorrow"/>
                <a:cs typeface="Tomorrow"/>
                <a:sym typeface="Tomorrow"/>
              </a:rPr>
              <a:t>V. What Is a Database Management System (DBMS)</a:t>
            </a:r>
          </a:p>
          <a:p>
            <a:pPr algn="just">
              <a:lnSpc>
                <a:spcPts val="4479"/>
              </a:lnSpc>
            </a:pPr>
            <a:r>
              <a:rPr lang="en-US" sz="3199">
                <a:solidFill>
                  <a:srgbClr val="FFFFFF"/>
                </a:solidFill>
                <a:latin typeface="Tomorrow"/>
                <a:ea typeface="Tomorrow"/>
                <a:cs typeface="Tomorrow"/>
                <a:sym typeface="Tomorrow"/>
              </a:rPr>
              <a:t>VI. SQL: The Language of Databases</a:t>
            </a:r>
          </a:p>
          <a:p>
            <a:pPr algn="just">
              <a:lnSpc>
                <a:spcPts val="4479"/>
              </a:lnSpc>
            </a:pPr>
          </a:p>
        </p:txBody>
      </p:sp>
      <p:grpSp>
        <p:nvGrpSpPr>
          <p:cNvPr name="Group 12" id="12"/>
          <p:cNvGrpSpPr/>
          <p:nvPr/>
        </p:nvGrpSpPr>
        <p:grpSpPr>
          <a:xfrm rot="0">
            <a:off x="16250742" y="2393082"/>
            <a:ext cx="626183" cy="566519"/>
            <a:chOff x="0" y="0"/>
            <a:chExt cx="164921" cy="149207"/>
          </a:xfrm>
        </p:grpSpPr>
        <p:sp>
          <p:nvSpPr>
            <p:cNvPr name="Freeform 13" id="13"/>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4" id="14"/>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563834" y="1579328"/>
            <a:ext cx="310192" cy="299142"/>
            <a:chOff x="0" y="0"/>
            <a:chExt cx="81697" cy="78786"/>
          </a:xfrm>
        </p:grpSpPr>
        <p:sp>
          <p:nvSpPr>
            <p:cNvPr name="Freeform 16" id="16"/>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7" id="17"/>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69070" y="6854327"/>
            <a:ext cx="310192" cy="299142"/>
            <a:chOff x="0" y="0"/>
            <a:chExt cx="81697" cy="78786"/>
          </a:xfrm>
        </p:grpSpPr>
        <p:sp>
          <p:nvSpPr>
            <p:cNvPr name="Freeform 19" id="19"/>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0" id="20"/>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2333412" y="7516926"/>
            <a:ext cx="310192" cy="299142"/>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TextBox 24" id="24"/>
          <p:cNvSpPr txBox="true"/>
          <p:nvPr/>
        </p:nvSpPr>
        <p:spPr>
          <a:xfrm rot="0">
            <a:off x="9387087" y="5086350"/>
            <a:ext cx="7331843" cy="4471621"/>
          </a:xfrm>
          <a:prstGeom prst="rect">
            <a:avLst/>
          </a:prstGeom>
        </p:spPr>
        <p:txBody>
          <a:bodyPr anchor="t" rtlCol="false" tIns="0" lIns="0" bIns="0" rIns="0">
            <a:spAutoFit/>
          </a:bodyPr>
          <a:lstStyle/>
          <a:p>
            <a:pPr algn="just">
              <a:lnSpc>
                <a:spcPts val="4482"/>
              </a:lnSpc>
            </a:pPr>
          </a:p>
          <a:p>
            <a:pPr algn="just">
              <a:lnSpc>
                <a:spcPts val="4482"/>
              </a:lnSpc>
            </a:pPr>
            <a:r>
              <a:rPr lang="en-US" sz="3201">
                <a:solidFill>
                  <a:srgbClr val="FFFFFF"/>
                </a:solidFill>
                <a:latin typeface="Tomorrow"/>
                <a:ea typeface="Tomorrow"/>
                <a:cs typeface="Tomorrow"/>
                <a:sym typeface="Tomorrow"/>
              </a:rPr>
              <a:t>VII. Database Design Best Practices</a:t>
            </a:r>
          </a:p>
          <a:p>
            <a:pPr algn="just">
              <a:lnSpc>
                <a:spcPts val="4482"/>
              </a:lnSpc>
            </a:pPr>
            <a:r>
              <a:rPr lang="en-US" sz="3201">
                <a:solidFill>
                  <a:srgbClr val="FFFFFF"/>
                </a:solidFill>
                <a:latin typeface="Tomorrow"/>
                <a:ea typeface="Tomorrow"/>
                <a:cs typeface="Tomorrow"/>
                <a:sym typeface="Tomorrow"/>
              </a:rPr>
              <a:t>VIII. Database Security</a:t>
            </a:r>
          </a:p>
          <a:p>
            <a:pPr algn="just">
              <a:lnSpc>
                <a:spcPts val="4482"/>
              </a:lnSpc>
            </a:pPr>
            <a:r>
              <a:rPr lang="en-US" sz="3201">
                <a:solidFill>
                  <a:srgbClr val="FFFFFF"/>
                </a:solidFill>
                <a:latin typeface="Tomorrow"/>
                <a:ea typeface="Tomorrow"/>
                <a:cs typeface="Tomorrow"/>
                <a:sym typeface="Tomorrow"/>
              </a:rPr>
              <a:t>IX. Trends in Modern Databases</a:t>
            </a:r>
          </a:p>
          <a:p>
            <a:pPr algn="just">
              <a:lnSpc>
                <a:spcPts val="4482"/>
              </a:lnSpc>
            </a:pPr>
            <a:r>
              <a:rPr lang="en-US" sz="3201">
                <a:solidFill>
                  <a:srgbClr val="FFFFFF"/>
                </a:solidFill>
                <a:latin typeface="Tomorrow"/>
                <a:ea typeface="Tomorrow"/>
                <a:cs typeface="Tomorrow"/>
                <a:sym typeface="Tomorrow"/>
              </a:rPr>
              <a:t> X. Careers in Databases</a:t>
            </a:r>
          </a:p>
          <a:p>
            <a:pPr algn="just">
              <a:lnSpc>
                <a:spcPts val="4482"/>
              </a:lnSpc>
            </a:pPr>
            <a:r>
              <a:rPr lang="en-US" sz="3201">
                <a:solidFill>
                  <a:srgbClr val="FFFFFF"/>
                </a:solidFill>
                <a:latin typeface="Tomorrow"/>
                <a:ea typeface="Tomorrow"/>
                <a:cs typeface="Tomorrow"/>
                <a:sym typeface="Tomorrow"/>
              </a:rPr>
              <a:t>XI. Conclusion</a:t>
            </a:r>
          </a:p>
          <a:p>
            <a:pPr algn="just">
              <a:lnSpc>
                <a:spcPts val="4482"/>
              </a:lnSpc>
            </a:pPr>
            <a:r>
              <a:rPr lang="en-US" sz="3201">
                <a:solidFill>
                  <a:srgbClr val="FFFFFF"/>
                </a:solidFill>
                <a:latin typeface="Tomorrow"/>
                <a:ea typeface="Tomorrow"/>
                <a:cs typeface="Tomorrow"/>
                <a:sym typeface="Tomorrow"/>
              </a:rPr>
              <a:t>XII. References</a:t>
            </a:r>
          </a:p>
          <a:p>
            <a:pPr algn="just">
              <a:lnSpc>
                <a:spcPts val="4482"/>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24166" y="644492"/>
            <a:ext cx="14839668" cy="9342575"/>
            <a:chOff x="0" y="0"/>
            <a:chExt cx="3908390" cy="2460596"/>
          </a:xfrm>
        </p:grpSpPr>
        <p:sp>
          <p:nvSpPr>
            <p:cNvPr name="Freeform 4" id="4"/>
            <p:cNvSpPr/>
            <p:nvPr/>
          </p:nvSpPr>
          <p:spPr>
            <a:xfrm flipH="false" flipV="false" rot="0">
              <a:off x="0" y="0"/>
              <a:ext cx="3908390" cy="2460596"/>
            </a:xfrm>
            <a:custGeom>
              <a:avLst/>
              <a:gdLst/>
              <a:ahLst/>
              <a:cxnLst/>
              <a:rect r="r" b="b" t="t" l="l"/>
              <a:pathLst>
                <a:path h="2460596" w="3908390">
                  <a:moveTo>
                    <a:pt x="0" y="0"/>
                  </a:moveTo>
                  <a:lnTo>
                    <a:pt x="3908390" y="0"/>
                  </a:lnTo>
                  <a:lnTo>
                    <a:pt x="3908390" y="2460596"/>
                  </a:lnTo>
                  <a:lnTo>
                    <a:pt x="0" y="2460596"/>
                  </a:lnTo>
                  <a:close/>
                </a:path>
              </a:pathLst>
            </a:custGeom>
            <a:solidFill>
              <a:srgbClr val="FFFFFF">
                <a:alpha val="10980"/>
              </a:srgbClr>
            </a:solidFill>
          </p:spPr>
        </p:sp>
        <p:sp>
          <p:nvSpPr>
            <p:cNvPr name="TextBox 5" id="5"/>
            <p:cNvSpPr txBox="true"/>
            <p:nvPr/>
          </p:nvSpPr>
          <p:spPr>
            <a:xfrm>
              <a:off x="0" y="-47625"/>
              <a:ext cx="3908390" cy="2508221"/>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9588" y="751692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3"/>
            <a:stretch>
              <a:fillRect l="0" t="0" r="0" b="0"/>
            </a:stretch>
          </a:blipFill>
        </p:spPr>
      </p:sp>
      <p:grpSp>
        <p:nvGrpSpPr>
          <p:cNvPr name="Group 7" id="7"/>
          <p:cNvGrpSpPr/>
          <p:nvPr/>
        </p:nvGrpSpPr>
        <p:grpSpPr>
          <a:xfrm rot="0">
            <a:off x="14970404" y="260285"/>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2943935" y="-85725"/>
            <a:ext cx="12400129" cy="762511"/>
          </a:xfrm>
          <a:prstGeom prst="rect">
            <a:avLst/>
          </a:prstGeom>
        </p:spPr>
        <p:txBody>
          <a:bodyPr anchor="t" rtlCol="false" tIns="0" lIns="0" bIns="0" rIns="0">
            <a:spAutoFit/>
          </a:bodyPr>
          <a:lstStyle/>
          <a:p>
            <a:pPr algn="ctr">
              <a:lnSpc>
                <a:spcPts val="6271"/>
              </a:lnSpc>
            </a:pPr>
            <a:r>
              <a:rPr lang="en-US" sz="4479">
                <a:solidFill>
                  <a:srgbClr val="FFFFFF"/>
                </a:solidFill>
                <a:latin typeface="Architype Van Der Leck"/>
                <a:ea typeface="Architype Van Der Leck"/>
                <a:cs typeface="Architype Van Der Leck"/>
                <a:sym typeface="Architype Van Der Leck"/>
              </a:rPr>
              <a:t>preface</a:t>
            </a:r>
          </a:p>
        </p:txBody>
      </p:sp>
      <p:sp>
        <p:nvSpPr>
          <p:cNvPr name="TextBox 11" id="11"/>
          <p:cNvSpPr txBox="true"/>
          <p:nvPr/>
        </p:nvSpPr>
        <p:spPr>
          <a:xfrm rot="0">
            <a:off x="1879262" y="956954"/>
            <a:ext cx="14687472" cy="8812084"/>
          </a:xfrm>
          <a:prstGeom prst="rect">
            <a:avLst/>
          </a:prstGeom>
        </p:spPr>
        <p:txBody>
          <a:bodyPr anchor="t" rtlCol="false" tIns="0" lIns="0" bIns="0" rIns="0">
            <a:spAutoFit/>
          </a:bodyPr>
          <a:lstStyle/>
          <a:p>
            <a:pPr algn="just">
              <a:lnSpc>
                <a:spcPts val="3880"/>
              </a:lnSpc>
            </a:pPr>
            <a:r>
              <a:rPr lang="en-US" sz="2771">
                <a:solidFill>
                  <a:srgbClr val="FFFFFF"/>
                </a:solidFill>
                <a:latin typeface="Tomorrow"/>
                <a:ea typeface="Tomorrow"/>
                <a:cs typeface="Tomorrow"/>
                <a:sym typeface="Tomorrow"/>
              </a:rPr>
              <a:t>  In today’s digital world, data is often called the “new oil” — a valuable resource that drives innovation, decision-making, and everyday operations across industries. Whether you’re a student, a professional, or simply curious about how information is organized and managed, understanding databases is essential.</a:t>
            </a:r>
          </a:p>
          <a:p>
            <a:pPr algn="just">
              <a:lnSpc>
                <a:spcPts val="3880"/>
              </a:lnSpc>
            </a:pPr>
            <a:r>
              <a:rPr lang="en-US" sz="2771">
                <a:solidFill>
                  <a:srgbClr val="FFFFFF"/>
                </a:solidFill>
                <a:latin typeface="Tomorrow"/>
                <a:ea typeface="Tomorrow"/>
                <a:cs typeface="Tomorrow"/>
                <a:sym typeface="Tomorrow"/>
              </a:rPr>
              <a:t> </a:t>
            </a:r>
          </a:p>
          <a:p>
            <a:pPr algn="just">
              <a:lnSpc>
                <a:spcPts val="3880"/>
              </a:lnSpc>
            </a:pPr>
            <a:r>
              <a:rPr lang="en-US" sz="2771">
                <a:solidFill>
                  <a:srgbClr val="FFFFFF"/>
                </a:solidFill>
                <a:latin typeface="Tomorrow"/>
                <a:ea typeface="Tomorrow"/>
                <a:cs typeface="Tomorrow"/>
                <a:sym typeface="Tomorrow"/>
              </a:rPr>
              <a:t>   This article aims to provide a clear and comprehensive overview of databases — from their basic components and types to advanced topics like database management systems, SQL, and modern trends. Along the way, you’ll find practical insights into best practices, security, and career opportunities in the field.</a:t>
            </a:r>
          </a:p>
          <a:p>
            <a:pPr algn="just">
              <a:lnSpc>
                <a:spcPts val="3880"/>
              </a:lnSpc>
            </a:pPr>
            <a:r>
              <a:rPr lang="en-US" sz="2771">
                <a:solidFill>
                  <a:srgbClr val="FFFFFF"/>
                </a:solidFill>
                <a:latin typeface="Tomorrow"/>
                <a:ea typeface="Tomorrow"/>
                <a:cs typeface="Tomorrow"/>
                <a:sym typeface="Tomorrow"/>
              </a:rPr>
              <a:t> </a:t>
            </a:r>
          </a:p>
          <a:p>
            <a:pPr algn="just">
              <a:lnSpc>
                <a:spcPts val="3880"/>
              </a:lnSpc>
            </a:pPr>
            <a:r>
              <a:rPr lang="en-US" sz="2771">
                <a:solidFill>
                  <a:srgbClr val="FFFFFF"/>
                </a:solidFill>
                <a:latin typeface="Tomorrow"/>
                <a:ea typeface="Tomorrow"/>
                <a:cs typeface="Tomorrow"/>
                <a:sym typeface="Tomorrow"/>
              </a:rPr>
              <a:t>   As data continues to grow in both volume and importance, having a solid grasp of databases is a skill that opens doors to many possibilities. This guide is designed to be accessible to beginners while still offering valuable knowledge for those looking to deepen their understanding.</a:t>
            </a:r>
          </a:p>
          <a:p>
            <a:pPr algn="just">
              <a:lnSpc>
                <a:spcPts val="3880"/>
              </a:lnSpc>
            </a:pPr>
            <a:r>
              <a:rPr lang="en-US" sz="2771">
                <a:solidFill>
                  <a:srgbClr val="FFFFFF"/>
                </a:solidFill>
                <a:latin typeface="Tomorrow"/>
                <a:ea typeface="Tomorrow"/>
                <a:cs typeface="Tomorrow"/>
                <a:sym typeface="Tomorrow"/>
              </a:rPr>
              <a:t> </a:t>
            </a:r>
          </a:p>
          <a:p>
            <a:pPr algn="just">
              <a:lnSpc>
                <a:spcPts val="3880"/>
              </a:lnSpc>
            </a:pPr>
            <a:r>
              <a:rPr lang="en-US" sz="2771">
                <a:solidFill>
                  <a:srgbClr val="FFFFFF"/>
                </a:solidFill>
                <a:latin typeface="Tomorrow"/>
                <a:ea typeface="Tomorrow"/>
                <a:cs typeface="Tomorrow"/>
                <a:sym typeface="Tomorrow"/>
              </a:rPr>
              <a:t>   I hope this article serves as a helpful starting point for your journey into the world of databases and inspires you to explore the exciting possibilities within this vital field.</a:t>
            </a:r>
          </a:p>
          <a:p>
            <a:pPr algn="just">
              <a:lnSpc>
                <a:spcPts val="3880"/>
              </a:lnSpc>
            </a:pPr>
          </a:p>
        </p:txBody>
      </p:sp>
      <p:grpSp>
        <p:nvGrpSpPr>
          <p:cNvPr name="Group 12" id="12"/>
          <p:cNvGrpSpPr/>
          <p:nvPr/>
        </p:nvGrpSpPr>
        <p:grpSpPr>
          <a:xfrm rot="0">
            <a:off x="16250742" y="2393082"/>
            <a:ext cx="626183" cy="566519"/>
            <a:chOff x="0" y="0"/>
            <a:chExt cx="164921" cy="149207"/>
          </a:xfrm>
        </p:grpSpPr>
        <p:sp>
          <p:nvSpPr>
            <p:cNvPr name="Freeform 13" id="13"/>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4" id="14"/>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16566734" y="729558"/>
            <a:ext cx="310192" cy="299142"/>
            <a:chOff x="0" y="0"/>
            <a:chExt cx="81697" cy="78786"/>
          </a:xfrm>
        </p:grpSpPr>
        <p:sp>
          <p:nvSpPr>
            <p:cNvPr name="Freeform 16" id="16"/>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7" id="17"/>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569070" y="6854327"/>
            <a:ext cx="310192" cy="299142"/>
            <a:chOff x="0" y="0"/>
            <a:chExt cx="81697" cy="78786"/>
          </a:xfrm>
        </p:grpSpPr>
        <p:sp>
          <p:nvSpPr>
            <p:cNvPr name="Freeform 19" id="19"/>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0" id="20"/>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2333412" y="7516926"/>
            <a:ext cx="310192" cy="299142"/>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028700" y="1028700"/>
            <a:ext cx="13096612" cy="8458762"/>
            <a:chOff x="0" y="0"/>
            <a:chExt cx="3449313" cy="2227822"/>
          </a:xfrm>
        </p:grpSpPr>
        <p:sp>
          <p:nvSpPr>
            <p:cNvPr name="Freeform 4" id="4"/>
            <p:cNvSpPr/>
            <p:nvPr/>
          </p:nvSpPr>
          <p:spPr>
            <a:xfrm flipH="false" flipV="false" rot="0">
              <a:off x="0" y="0"/>
              <a:ext cx="3449313" cy="2227822"/>
            </a:xfrm>
            <a:custGeom>
              <a:avLst/>
              <a:gdLst/>
              <a:ahLst/>
              <a:cxnLst/>
              <a:rect r="r" b="b" t="t" l="l"/>
              <a:pathLst>
                <a:path h="2227822" w="3449313">
                  <a:moveTo>
                    <a:pt x="0" y="0"/>
                  </a:moveTo>
                  <a:lnTo>
                    <a:pt x="3449313" y="0"/>
                  </a:lnTo>
                  <a:lnTo>
                    <a:pt x="3449313" y="2227822"/>
                  </a:lnTo>
                  <a:lnTo>
                    <a:pt x="0" y="2227822"/>
                  </a:lnTo>
                  <a:close/>
                </a:path>
              </a:pathLst>
            </a:custGeom>
            <a:solidFill>
              <a:srgbClr val="FFFFFF">
                <a:alpha val="10980"/>
              </a:srgbClr>
            </a:solidFill>
          </p:spPr>
        </p:sp>
        <p:sp>
          <p:nvSpPr>
            <p:cNvPr name="TextBox 5" id="5"/>
            <p:cNvSpPr txBox="true"/>
            <p:nvPr/>
          </p:nvSpPr>
          <p:spPr>
            <a:xfrm>
              <a:off x="0" y="-47625"/>
              <a:ext cx="3449313" cy="227544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089112" y="1191755"/>
            <a:ext cx="10641705" cy="722011"/>
          </a:xfrm>
          <a:prstGeom prst="rect">
            <a:avLst/>
          </a:prstGeom>
        </p:spPr>
        <p:txBody>
          <a:bodyPr anchor="t" rtlCol="false" tIns="0" lIns="0" bIns="0" rIns="0">
            <a:spAutoFit/>
          </a:bodyPr>
          <a:lstStyle/>
          <a:p>
            <a:pPr algn="ctr" marL="0" indent="0" lvl="0">
              <a:lnSpc>
                <a:spcPts val="5879"/>
              </a:lnSpc>
              <a:spcBef>
                <a:spcPct val="0"/>
              </a:spcBef>
            </a:pPr>
            <a:r>
              <a:rPr lang="en-US" sz="4199" strike="noStrike" u="none">
                <a:solidFill>
                  <a:srgbClr val="FFFFFF"/>
                </a:solidFill>
                <a:latin typeface="Architype Van Der Leck"/>
                <a:ea typeface="Architype Van Der Leck"/>
                <a:cs typeface="Architype Van Der Leck"/>
                <a:sym typeface="Architype Van Der Leck"/>
              </a:rPr>
              <a:t>What Is database?</a:t>
            </a:r>
          </a:p>
        </p:txBody>
      </p:sp>
      <p:sp>
        <p:nvSpPr>
          <p:cNvPr name="Freeform 7" id="7"/>
          <p:cNvSpPr/>
          <p:nvPr/>
        </p:nvSpPr>
        <p:spPr>
          <a:xfrm flipH="false" flipV="false" rot="0">
            <a:off x="14125312" y="4047167"/>
            <a:ext cx="4162688" cy="3422555"/>
          </a:xfrm>
          <a:custGeom>
            <a:avLst/>
            <a:gdLst/>
            <a:ahLst/>
            <a:cxnLst/>
            <a:rect r="r" b="b" t="t" l="l"/>
            <a:pathLst>
              <a:path h="3422555" w="4162688">
                <a:moveTo>
                  <a:pt x="0" y="0"/>
                </a:moveTo>
                <a:lnTo>
                  <a:pt x="4162688" y="0"/>
                </a:lnTo>
                <a:lnTo>
                  <a:pt x="4162688" y="3422555"/>
                </a:lnTo>
                <a:lnTo>
                  <a:pt x="0" y="342255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11983496" y="-868048"/>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5"/>
            <a:stretch>
              <a:fillRect l="0" t="0" r="0" b="0"/>
            </a:stretch>
          </a:blipFill>
        </p:spPr>
      </p:sp>
      <p:grpSp>
        <p:nvGrpSpPr>
          <p:cNvPr name="Group 9" id="9"/>
          <p:cNvGrpSpPr/>
          <p:nvPr/>
        </p:nvGrpSpPr>
        <p:grpSpPr>
          <a:xfrm rot="0">
            <a:off x="13970216" y="9337891"/>
            <a:ext cx="310192" cy="299142"/>
            <a:chOff x="0" y="0"/>
            <a:chExt cx="81697" cy="78786"/>
          </a:xfrm>
        </p:grpSpPr>
        <p:sp>
          <p:nvSpPr>
            <p:cNvPr name="Freeform 10" id="1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1" id="1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341792" y="509065"/>
            <a:ext cx="747321" cy="768415"/>
            <a:chOff x="0" y="0"/>
            <a:chExt cx="196825" cy="202381"/>
          </a:xfrm>
        </p:grpSpPr>
        <p:sp>
          <p:nvSpPr>
            <p:cNvPr name="Freeform 13" id="13"/>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4" id="14"/>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524133" y="3048133"/>
            <a:ext cx="626183" cy="566519"/>
            <a:chOff x="0" y="0"/>
            <a:chExt cx="164921" cy="149207"/>
          </a:xfrm>
        </p:grpSpPr>
        <p:sp>
          <p:nvSpPr>
            <p:cNvPr name="Freeform 16" id="16"/>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7" id="17"/>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369038" y="1916294"/>
            <a:ext cx="310192" cy="299142"/>
            <a:chOff x="0" y="0"/>
            <a:chExt cx="81697" cy="78786"/>
          </a:xfrm>
        </p:grpSpPr>
        <p:sp>
          <p:nvSpPr>
            <p:cNvPr name="Freeform 19" id="19"/>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0" id="20"/>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140931" y="2008715"/>
            <a:ext cx="12829285" cy="7788214"/>
          </a:xfrm>
          <a:prstGeom prst="rect">
            <a:avLst/>
          </a:prstGeom>
        </p:spPr>
        <p:txBody>
          <a:bodyPr anchor="t" rtlCol="false" tIns="0" lIns="0" bIns="0" rIns="0">
            <a:spAutoFit/>
          </a:bodyPr>
          <a:lstStyle/>
          <a:p>
            <a:pPr algn="just">
              <a:lnSpc>
                <a:spcPts val="3852"/>
              </a:lnSpc>
            </a:pPr>
            <a:r>
              <a:rPr lang="en-US" sz="2752">
                <a:solidFill>
                  <a:srgbClr val="FFFFFF"/>
                </a:solidFill>
                <a:latin typeface="Tomorrow"/>
                <a:ea typeface="Tomorrow"/>
                <a:cs typeface="Tomorrow"/>
                <a:sym typeface="Tomorrow"/>
              </a:rPr>
              <a:t>   In today’s digital world, data is everywhere. From logging into your favorite social media account to making an online purchase, almost every digital action involves a database. </a:t>
            </a:r>
          </a:p>
          <a:p>
            <a:pPr algn="just">
              <a:lnSpc>
                <a:spcPts val="3852"/>
              </a:lnSpc>
            </a:pPr>
            <a:r>
              <a:rPr lang="en-US" sz="2752">
                <a:solidFill>
                  <a:srgbClr val="FFFFFF"/>
                </a:solidFill>
                <a:latin typeface="Tomorrow"/>
                <a:ea typeface="Tomorrow"/>
                <a:cs typeface="Tomorrow"/>
                <a:sym typeface="Tomorrow"/>
              </a:rPr>
              <a:t>    A database is a collection of information that is organised and kept in a computer so that it can be examined using a computer programme to get information from it and in theory, consists of two major components: data and information. So the ultimate objective is to manage the data so that it can be transformed into the appropriate information and data retrieval, deletion, and editing can be done conveniently, effectively, efficiently, and accurately (B. Rawat, S. Purnama, &amp; Mulyati, 2021).</a:t>
            </a:r>
          </a:p>
          <a:p>
            <a:pPr algn="just">
              <a:lnSpc>
                <a:spcPts val="3852"/>
              </a:lnSpc>
            </a:pPr>
            <a:r>
              <a:rPr lang="en-US" sz="2752">
                <a:solidFill>
                  <a:srgbClr val="FFFFFF"/>
                </a:solidFill>
                <a:latin typeface="Tomorrow"/>
                <a:ea typeface="Tomorrow"/>
                <a:cs typeface="Tomorrow"/>
                <a:sym typeface="Tomorrow"/>
              </a:rPr>
              <a:t>  A database is an organized collection of data that can be easily accessed, managed, and updated. It allows individuals and organizations to store information in a structured format, making it easier to retrieve and manipulate as needed. Whether you're booking a flight, streaming music, or checking your grades online—databases are working behind the scenes.</a:t>
            </a:r>
          </a:p>
          <a:p>
            <a:pPr algn="just">
              <a:lnSpc>
                <a:spcPts val="3852"/>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24166" y="2113107"/>
            <a:ext cx="14839668" cy="6095668"/>
            <a:chOff x="0" y="0"/>
            <a:chExt cx="3908390" cy="1605443"/>
          </a:xfrm>
        </p:grpSpPr>
        <p:sp>
          <p:nvSpPr>
            <p:cNvPr name="Freeform 4" id="4"/>
            <p:cNvSpPr/>
            <p:nvPr/>
          </p:nvSpPr>
          <p:spPr>
            <a:xfrm flipH="false" flipV="false" rot="0">
              <a:off x="0" y="0"/>
              <a:ext cx="3908390" cy="1605443"/>
            </a:xfrm>
            <a:custGeom>
              <a:avLst/>
              <a:gdLst/>
              <a:ahLst/>
              <a:cxnLst/>
              <a:rect r="r" b="b" t="t" l="l"/>
              <a:pathLst>
                <a:path h="1605443" w="3908390">
                  <a:moveTo>
                    <a:pt x="0" y="0"/>
                  </a:moveTo>
                  <a:lnTo>
                    <a:pt x="3908390" y="0"/>
                  </a:lnTo>
                  <a:lnTo>
                    <a:pt x="3908390" y="1605443"/>
                  </a:lnTo>
                  <a:lnTo>
                    <a:pt x="0" y="1605443"/>
                  </a:lnTo>
                  <a:close/>
                </a:path>
              </a:pathLst>
            </a:custGeom>
            <a:solidFill>
              <a:srgbClr val="FFFFFF">
                <a:alpha val="10980"/>
              </a:srgbClr>
            </a:solidFill>
          </p:spPr>
        </p:sp>
        <p:sp>
          <p:nvSpPr>
            <p:cNvPr name="TextBox 5" id="5"/>
            <p:cNvSpPr txBox="true"/>
            <p:nvPr/>
          </p:nvSpPr>
          <p:spPr>
            <a:xfrm>
              <a:off x="0" y="-47625"/>
              <a:ext cx="3908390" cy="165306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9588" y="751692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3"/>
            <a:stretch>
              <a:fillRect l="0" t="0" r="0" b="0"/>
            </a:stretch>
          </a:blipFill>
        </p:spPr>
      </p:sp>
      <p:grpSp>
        <p:nvGrpSpPr>
          <p:cNvPr name="Group 7" id="7"/>
          <p:cNvGrpSpPr/>
          <p:nvPr/>
        </p:nvGrpSpPr>
        <p:grpSpPr>
          <a:xfrm rot="0">
            <a:off x="15192266" y="134469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863745" y="1157399"/>
            <a:ext cx="14315365" cy="1028700"/>
          </a:xfrm>
          <a:prstGeom prst="rect">
            <a:avLst/>
          </a:prstGeom>
        </p:spPr>
        <p:txBody>
          <a:bodyPr anchor="t" rtlCol="false" tIns="0" lIns="0" bIns="0" rIns="0">
            <a:spAutoFit/>
          </a:bodyPr>
          <a:lstStyle/>
          <a:p>
            <a:pPr algn="ctr">
              <a:lnSpc>
                <a:spcPts val="8400"/>
              </a:lnSpc>
            </a:pPr>
            <a:r>
              <a:rPr lang="en-US" sz="6000">
                <a:solidFill>
                  <a:srgbClr val="FFFFFF"/>
                </a:solidFill>
                <a:latin typeface="Architype Van Der Leck"/>
                <a:ea typeface="Architype Van Der Leck"/>
                <a:cs typeface="Architype Van Der Leck"/>
                <a:sym typeface="Architype Van Der Leck"/>
              </a:rPr>
              <a:t>Types of databases</a:t>
            </a:r>
          </a:p>
        </p:txBody>
      </p:sp>
      <p:grpSp>
        <p:nvGrpSpPr>
          <p:cNvPr name="Group 11" id="11"/>
          <p:cNvGrpSpPr/>
          <p:nvPr/>
        </p:nvGrpSpPr>
        <p:grpSpPr>
          <a:xfrm rot="0">
            <a:off x="16250742" y="2393082"/>
            <a:ext cx="626183" cy="566519"/>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721829" y="1579328"/>
            <a:ext cx="310192" cy="299142"/>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569070" y="6854327"/>
            <a:ext cx="310192" cy="299142"/>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2333412" y="7516926"/>
            <a:ext cx="310192" cy="299142"/>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2172664" y="2293179"/>
            <a:ext cx="13896385" cy="6242456"/>
          </a:xfrm>
          <a:prstGeom prst="rect">
            <a:avLst/>
          </a:prstGeom>
        </p:spPr>
        <p:txBody>
          <a:bodyPr anchor="t" rtlCol="false" tIns="0" lIns="0" bIns="0" rIns="0">
            <a:spAutoFit/>
          </a:bodyPr>
          <a:lstStyle/>
          <a:p>
            <a:pPr algn="just">
              <a:lnSpc>
                <a:spcPts val="4661"/>
              </a:lnSpc>
            </a:pPr>
            <a:r>
              <a:rPr lang="en-US" sz="3329">
                <a:solidFill>
                  <a:srgbClr val="FFFFFF"/>
                </a:solidFill>
                <a:latin typeface="Tomorrow"/>
                <a:ea typeface="Tomorrow"/>
                <a:cs typeface="Tomorrow"/>
                <a:sym typeface="Tomorrow"/>
              </a:rPr>
              <a:t>    In this piece, we’ll explore the main types of databases, how they differ from one another, and where each is most effectively used. Over time, different types of databases have been developed to meet various data needs and usage scenarios. In this section, we’ll explore the main types of databases, how they differ in structure and functionality, and where each type is most effectively used. From traditional relational databases to modern NoSQL systems and specialized options like graph or time-series databases, understanding these types helps in choosing the right database for a specific task. </a:t>
            </a:r>
          </a:p>
          <a:p>
            <a:pPr algn="just">
              <a:lnSpc>
                <a:spcPts val="2796"/>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24166" y="2113107"/>
            <a:ext cx="14839668" cy="6095668"/>
            <a:chOff x="0" y="0"/>
            <a:chExt cx="3908390" cy="1605443"/>
          </a:xfrm>
        </p:grpSpPr>
        <p:sp>
          <p:nvSpPr>
            <p:cNvPr name="Freeform 4" id="4"/>
            <p:cNvSpPr/>
            <p:nvPr/>
          </p:nvSpPr>
          <p:spPr>
            <a:xfrm flipH="false" flipV="false" rot="0">
              <a:off x="0" y="0"/>
              <a:ext cx="3908390" cy="1605443"/>
            </a:xfrm>
            <a:custGeom>
              <a:avLst/>
              <a:gdLst/>
              <a:ahLst/>
              <a:cxnLst/>
              <a:rect r="r" b="b" t="t" l="l"/>
              <a:pathLst>
                <a:path h="1605443" w="3908390">
                  <a:moveTo>
                    <a:pt x="0" y="0"/>
                  </a:moveTo>
                  <a:lnTo>
                    <a:pt x="3908390" y="0"/>
                  </a:lnTo>
                  <a:lnTo>
                    <a:pt x="3908390" y="1605443"/>
                  </a:lnTo>
                  <a:lnTo>
                    <a:pt x="0" y="1605443"/>
                  </a:lnTo>
                  <a:close/>
                </a:path>
              </a:pathLst>
            </a:custGeom>
            <a:solidFill>
              <a:srgbClr val="FFFFFF">
                <a:alpha val="10980"/>
              </a:srgbClr>
            </a:solidFill>
          </p:spPr>
        </p:sp>
        <p:sp>
          <p:nvSpPr>
            <p:cNvPr name="TextBox 5" id="5"/>
            <p:cNvSpPr txBox="true"/>
            <p:nvPr/>
          </p:nvSpPr>
          <p:spPr>
            <a:xfrm>
              <a:off x="0" y="-47625"/>
              <a:ext cx="3908390" cy="165306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9588" y="751692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3"/>
            <a:stretch>
              <a:fillRect l="0" t="0" r="0" b="0"/>
            </a:stretch>
          </a:blipFill>
        </p:spPr>
      </p:sp>
      <p:grpSp>
        <p:nvGrpSpPr>
          <p:cNvPr name="Group 7" id="7"/>
          <p:cNvGrpSpPr/>
          <p:nvPr/>
        </p:nvGrpSpPr>
        <p:grpSpPr>
          <a:xfrm rot="0">
            <a:off x="15192266" y="134469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879262" y="2316882"/>
            <a:ext cx="14229744" cy="5626100"/>
          </a:xfrm>
          <a:prstGeom prst="rect">
            <a:avLst/>
          </a:prstGeom>
        </p:spPr>
        <p:txBody>
          <a:bodyPr anchor="t" rtlCol="false" tIns="0" lIns="0" bIns="0" rIns="0">
            <a:spAutoFit/>
          </a:bodyPr>
          <a:lstStyle/>
          <a:p>
            <a:pPr algn="just">
              <a:lnSpc>
                <a:spcPts val="4619"/>
              </a:lnSpc>
            </a:pPr>
            <a:r>
              <a:rPr lang="en-US" sz="3299" b="true">
                <a:solidFill>
                  <a:srgbClr val="FFFFFF"/>
                </a:solidFill>
                <a:latin typeface="Tomorrow Bold"/>
                <a:ea typeface="Tomorrow Bold"/>
                <a:cs typeface="Tomorrow Bold"/>
                <a:sym typeface="Tomorrow Bold"/>
              </a:rPr>
              <a:t>Relational Database Management System (RDBMS)</a:t>
            </a:r>
          </a:p>
          <a:p>
            <a:pPr algn="just">
              <a:lnSpc>
                <a:spcPts val="4619"/>
              </a:lnSpc>
            </a:pPr>
          </a:p>
          <a:p>
            <a:pPr algn="just" marL="712464" indent="-356232" lvl="1">
              <a:lnSpc>
                <a:spcPts val="4619"/>
              </a:lnSpc>
              <a:buFont typeface="Arial"/>
              <a:buChar char="•"/>
            </a:pPr>
            <a:r>
              <a:rPr lang="en-US" sz="3299">
                <a:solidFill>
                  <a:srgbClr val="FFFFFF"/>
                </a:solidFill>
                <a:latin typeface="Tomorrow"/>
                <a:ea typeface="Tomorrow"/>
                <a:cs typeface="Tomorrow"/>
                <a:sym typeface="Tomorrow"/>
              </a:rPr>
              <a:t>It organizes data into tables (relations) composed of rows and columns. Uses primary keys to uniquely identify rows and foreign keys to establish relationships between tables. Queries are written in SQL (Structured Query Language), which allows for efficient data manipulation and retrieval.</a:t>
            </a:r>
          </a:p>
          <a:p>
            <a:pPr algn="just">
              <a:lnSpc>
                <a:spcPts val="4619"/>
              </a:lnSpc>
            </a:pPr>
          </a:p>
          <a:p>
            <a:pPr algn="just">
              <a:lnSpc>
                <a:spcPts val="4619"/>
              </a:lnSpc>
            </a:pPr>
            <a:r>
              <a:rPr lang="en-US" sz="3299" b="true">
                <a:solidFill>
                  <a:srgbClr val="FFFFFF"/>
                </a:solidFill>
                <a:latin typeface="Tomorrow Bold"/>
                <a:ea typeface="Tomorrow Bold"/>
                <a:cs typeface="Tomorrow Bold"/>
                <a:sym typeface="Tomorrow Bold"/>
              </a:rPr>
              <a:t>Examples: MySQL oracle, Microsoft SQL Server and Postgre SQL</a:t>
            </a:r>
          </a:p>
          <a:p>
            <a:pPr algn="just">
              <a:lnSpc>
                <a:spcPts val="3079"/>
              </a:lnSpc>
            </a:pPr>
          </a:p>
        </p:txBody>
      </p:sp>
      <p:grpSp>
        <p:nvGrpSpPr>
          <p:cNvPr name="Group 11" id="11"/>
          <p:cNvGrpSpPr/>
          <p:nvPr/>
        </p:nvGrpSpPr>
        <p:grpSpPr>
          <a:xfrm rot="0">
            <a:off x="16250742" y="2393082"/>
            <a:ext cx="626183" cy="566519"/>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721829" y="1579328"/>
            <a:ext cx="310192" cy="299142"/>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569070" y="6854327"/>
            <a:ext cx="310192" cy="299142"/>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2333412" y="7516926"/>
            <a:ext cx="310192" cy="299142"/>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24166" y="2113107"/>
            <a:ext cx="14839668" cy="6095668"/>
            <a:chOff x="0" y="0"/>
            <a:chExt cx="3908390" cy="1605443"/>
          </a:xfrm>
        </p:grpSpPr>
        <p:sp>
          <p:nvSpPr>
            <p:cNvPr name="Freeform 4" id="4"/>
            <p:cNvSpPr/>
            <p:nvPr/>
          </p:nvSpPr>
          <p:spPr>
            <a:xfrm flipH="false" flipV="false" rot="0">
              <a:off x="0" y="0"/>
              <a:ext cx="3908390" cy="1605443"/>
            </a:xfrm>
            <a:custGeom>
              <a:avLst/>
              <a:gdLst/>
              <a:ahLst/>
              <a:cxnLst/>
              <a:rect r="r" b="b" t="t" l="l"/>
              <a:pathLst>
                <a:path h="1605443" w="3908390">
                  <a:moveTo>
                    <a:pt x="0" y="0"/>
                  </a:moveTo>
                  <a:lnTo>
                    <a:pt x="3908390" y="0"/>
                  </a:lnTo>
                  <a:lnTo>
                    <a:pt x="3908390" y="1605443"/>
                  </a:lnTo>
                  <a:lnTo>
                    <a:pt x="0" y="1605443"/>
                  </a:lnTo>
                  <a:close/>
                </a:path>
              </a:pathLst>
            </a:custGeom>
            <a:solidFill>
              <a:srgbClr val="FFFFFF">
                <a:alpha val="10980"/>
              </a:srgbClr>
            </a:solidFill>
          </p:spPr>
        </p:sp>
        <p:sp>
          <p:nvSpPr>
            <p:cNvPr name="TextBox 5" id="5"/>
            <p:cNvSpPr txBox="true"/>
            <p:nvPr/>
          </p:nvSpPr>
          <p:spPr>
            <a:xfrm>
              <a:off x="0" y="-47625"/>
              <a:ext cx="3908390" cy="165306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9588" y="751692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3"/>
            <a:stretch>
              <a:fillRect l="0" t="0" r="0" b="0"/>
            </a:stretch>
          </a:blipFill>
        </p:spPr>
      </p:sp>
      <p:grpSp>
        <p:nvGrpSpPr>
          <p:cNvPr name="Group 7" id="7"/>
          <p:cNvGrpSpPr/>
          <p:nvPr/>
        </p:nvGrpSpPr>
        <p:grpSpPr>
          <a:xfrm rot="0">
            <a:off x="15192266" y="134469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879262" y="2326407"/>
            <a:ext cx="14229744" cy="5990590"/>
          </a:xfrm>
          <a:prstGeom prst="rect">
            <a:avLst/>
          </a:prstGeom>
        </p:spPr>
        <p:txBody>
          <a:bodyPr anchor="t" rtlCol="false" tIns="0" lIns="0" bIns="0" rIns="0">
            <a:spAutoFit/>
          </a:bodyPr>
          <a:lstStyle/>
          <a:p>
            <a:pPr algn="just">
              <a:lnSpc>
                <a:spcPts val="4479"/>
              </a:lnSpc>
            </a:pPr>
            <a:r>
              <a:rPr lang="en-US" sz="3199" b="true">
                <a:solidFill>
                  <a:srgbClr val="FFFFFF"/>
                </a:solidFill>
                <a:latin typeface="Tomorrow Bold"/>
                <a:ea typeface="Tomorrow Bold"/>
                <a:cs typeface="Tomorrow Bold"/>
                <a:sym typeface="Tomorrow Bold"/>
              </a:rPr>
              <a:t>2. NoSQL DBMS</a:t>
            </a:r>
          </a:p>
          <a:p>
            <a:pPr algn="just">
              <a:lnSpc>
                <a:spcPts val="4479"/>
              </a:lnSpc>
            </a:pPr>
          </a:p>
          <a:p>
            <a:pPr algn="just" marL="690874" indent="-345437" lvl="1">
              <a:lnSpc>
                <a:spcPts val="4479"/>
              </a:lnSpc>
              <a:buFont typeface="Arial"/>
              <a:buChar char="•"/>
            </a:pPr>
            <a:r>
              <a:rPr lang="en-US" sz="3199">
                <a:solidFill>
                  <a:srgbClr val="FFFFFF"/>
                </a:solidFill>
                <a:latin typeface="Tomorrow"/>
                <a:ea typeface="Tomorrow"/>
                <a:cs typeface="Tomorrow"/>
                <a:sym typeface="Tomorrow"/>
              </a:rPr>
              <a:t>They are designed to handle large-scale data and provide high performance for scenarios where relational models might be restrictive. They store data in various non-relational formats, such as key-value pairs, documents, graphs or columns. These flexible data models enable rapid scaling and are well-suited for unstructured or semi-structured data.</a:t>
            </a:r>
          </a:p>
          <a:p>
            <a:pPr algn="just">
              <a:lnSpc>
                <a:spcPts val="4479"/>
              </a:lnSpc>
            </a:pPr>
          </a:p>
          <a:p>
            <a:pPr algn="just">
              <a:lnSpc>
                <a:spcPts val="4479"/>
              </a:lnSpc>
            </a:pPr>
            <a:r>
              <a:rPr lang="en-US" sz="3199" b="true">
                <a:solidFill>
                  <a:srgbClr val="FFFFFF"/>
                </a:solidFill>
                <a:latin typeface="Tomorrow Bold"/>
                <a:ea typeface="Tomorrow Bold"/>
                <a:cs typeface="Tomorrow Bold"/>
                <a:sym typeface="Tomorrow Bold"/>
              </a:rPr>
              <a:t>Examples: MongoDB, Cassandra, DynamoDB and Redis</a:t>
            </a:r>
          </a:p>
          <a:p>
            <a:pPr algn="just">
              <a:lnSpc>
                <a:spcPts val="2940"/>
              </a:lnSpc>
            </a:pPr>
          </a:p>
        </p:txBody>
      </p:sp>
      <p:grpSp>
        <p:nvGrpSpPr>
          <p:cNvPr name="Group 11" id="11"/>
          <p:cNvGrpSpPr/>
          <p:nvPr/>
        </p:nvGrpSpPr>
        <p:grpSpPr>
          <a:xfrm rot="0">
            <a:off x="16250742" y="2393082"/>
            <a:ext cx="626183" cy="566519"/>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721829" y="1579328"/>
            <a:ext cx="310192" cy="299142"/>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569070" y="6854327"/>
            <a:ext cx="310192" cy="299142"/>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724166" y="8059204"/>
            <a:ext cx="310192" cy="299142"/>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24166" y="2113107"/>
            <a:ext cx="14839668" cy="6095668"/>
            <a:chOff x="0" y="0"/>
            <a:chExt cx="3908390" cy="1605443"/>
          </a:xfrm>
        </p:grpSpPr>
        <p:sp>
          <p:nvSpPr>
            <p:cNvPr name="Freeform 4" id="4"/>
            <p:cNvSpPr/>
            <p:nvPr/>
          </p:nvSpPr>
          <p:spPr>
            <a:xfrm flipH="false" flipV="false" rot="0">
              <a:off x="0" y="0"/>
              <a:ext cx="3908390" cy="1605443"/>
            </a:xfrm>
            <a:custGeom>
              <a:avLst/>
              <a:gdLst/>
              <a:ahLst/>
              <a:cxnLst/>
              <a:rect r="r" b="b" t="t" l="l"/>
              <a:pathLst>
                <a:path h="1605443" w="3908390">
                  <a:moveTo>
                    <a:pt x="0" y="0"/>
                  </a:moveTo>
                  <a:lnTo>
                    <a:pt x="3908390" y="0"/>
                  </a:lnTo>
                  <a:lnTo>
                    <a:pt x="3908390" y="1605443"/>
                  </a:lnTo>
                  <a:lnTo>
                    <a:pt x="0" y="1605443"/>
                  </a:lnTo>
                  <a:close/>
                </a:path>
              </a:pathLst>
            </a:custGeom>
            <a:solidFill>
              <a:srgbClr val="FFFFFF">
                <a:alpha val="10980"/>
              </a:srgbClr>
            </a:solidFill>
          </p:spPr>
        </p:sp>
        <p:sp>
          <p:nvSpPr>
            <p:cNvPr name="TextBox 5" id="5"/>
            <p:cNvSpPr txBox="true"/>
            <p:nvPr/>
          </p:nvSpPr>
          <p:spPr>
            <a:xfrm>
              <a:off x="0" y="-47625"/>
              <a:ext cx="3908390" cy="165306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9588" y="751692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3"/>
            <a:stretch>
              <a:fillRect l="0" t="0" r="0" b="0"/>
            </a:stretch>
          </a:blipFill>
        </p:spPr>
      </p:sp>
      <p:grpSp>
        <p:nvGrpSpPr>
          <p:cNvPr name="Group 7" id="7"/>
          <p:cNvGrpSpPr/>
          <p:nvPr/>
        </p:nvGrpSpPr>
        <p:grpSpPr>
          <a:xfrm rot="0">
            <a:off x="15192266" y="134469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879262" y="2036907"/>
            <a:ext cx="14229744" cy="6207125"/>
          </a:xfrm>
          <a:prstGeom prst="rect">
            <a:avLst/>
          </a:prstGeom>
        </p:spPr>
        <p:txBody>
          <a:bodyPr anchor="t" rtlCol="false" tIns="0" lIns="0" bIns="0" rIns="0">
            <a:spAutoFit/>
          </a:bodyPr>
          <a:lstStyle/>
          <a:p>
            <a:pPr algn="just">
              <a:lnSpc>
                <a:spcPts val="4619"/>
              </a:lnSpc>
            </a:pPr>
          </a:p>
          <a:p>
            <a:pPr algn="just">
              <a:lnSpc>
                <a:spcPts val="4619"/>
              </a:lnSpc>
            </a:pPr>
            <a:r>
              <a:rPr lang="en-US" sz="3299" b="true">
                <a:solidFill>
                  <a:srgbClr val="FFFFFF"/>
                </a:solidFill>
                <a:latin typeface="Tomorrow Bold"/>
                <a:ea typeface="Tomorrow Bold"/>
                <a:cs typeface="Tomorrow Bold"/>
                <a:sym typeface="Tomorrow Bold"/>
              </a:rPr>
              <a:t>3. Obj</a:t>
            </a:r>
            <a:r>
              <a:rPr lang="en-US" sz="3299" b="true">
                <a:solidFill>
                  <a:srgbClr val="FFFFFF"/>
                </a:solidFill>
                <a:latin typeface="Tomorrow Bold"/>
                <a:ea typeface="Tomorrow Bold"/>
                <a:cs typeface="Tomorrow Bold"/>
                <a:sym typeface="Tomorrow Bold"/>
              </a:rPr>
              <a:t>ect-Oriented DBMS (OODBMS)</a:t>
            </a:r>
          </a:p>
          <a:p>
            <a:pPr algn="just">
              <a:lnSpc>
                <a:spcPts val="4619"/>
              </a:lnSpc>
            </a:pPr>
          </a:p>
          <a:p>
            <a:pPr algn="just" marL="712464" indent="-356232" lvl="1">
              <a:lnSpc>
                <a:spcPts val="4619"/>
              </a:lnSpc>
              <a:buFont typeface="Arial"/>
              <a:buChar char="•"/>
            </a:pPr>
            <a:r>
              <a:rPr lang="en-US" sz="3299">
                <a:solidFill>
                  <a:srgbClr val="FFFFFF"/>
                </a:solidFill>
                <a:latin typeface="Tomorrow"/>
                <a:ea typeface="Tomorrow"/>
                <a:cs typeface="Tomorrow"/>
                <a:sym typeface="Tomorrow"/>
              </a:rPr>
              <a:t>It integrates object-oriented programming concepts into the database environment, allowing data to be stored as objects. Supports complex data types and relationships, making it ideal for applications requiring advanced data modeling and real-world simulations.</a:t>
            </a:r>
          </a:p>
          <a:p>
            <a:pPr algn="just">
              <a:lnSpc>
                <a:spcPts val="4619"/>
              </a:lnSpc>
            </a:pPr>
          </a:p>
          <a:p>
            <a:pPr algn="just">
              <a:lnSpc>
                <a:spcPts val="4619"/>
              </a:lnSpc>
            </a:pPr>
            <a:r>
              <a:rPr lang="en-US" sz="3299" b="true">
                <a:solidFill>
                  <a:srgbClr val="FFFFFF"/>
                </a:solidFill>
                <a:latin typeface="Tomorrow Bold"/>
                <a:ea typeface="Tomorrow Bold"/>
                <a:cs typeface="Tomorrow Bold"/>
                <a:sym typeface="Tomorrow Bold"/>
              </a:rPr>
              <a:t>Examples: ObjectDB, db4o</a:t>
            </a:r>
          </a:p>
          <a:p>
            <a:pPr algn="just">
              <a:lnSpc>
                <a:spcPts val="3079"/>
              </a:lnSpc>
            </a:pPr>
          </a:p>
        </p:txBody>
      </p:sp>
      <p:grpSp>
        <p:nvGrpSpPr>
          <p:cNvPr name="Group 11" id="11"/>
          <p:cNvGrpSpPr/>
          <p:nvPr/>
        </p:nvGrpSpPr>
        <p:grpSpPr>
          <a:xfrm rot="0">
            <a:off x="16250742" y="2393082"/>
            <a:ext cx="626183" cy="566519"/>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721829" y="1579328"/>
            <a:ext cx="310192" cy="299142"/>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569070" y="6854327"/>
            <a:ext cx="310192" cy="299142"/>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724166" y="8059204"/>
            <a:ext cx="310192" cy="299142"/>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24166" y="2113107"/>
            <a:ext cx="14839668" cy="6095668"/>
            <a:chOff x="0" y="0"/>
            <a:chExt cx="3908390" cy="1605443"/>
          </a:xfrm>
        </p:grpSpPr>
        <p:sp>
          <p:nvSpPr>
            <p:cNvPr name="Freeform 4" id="4"/>
            <p:cNvSpPr/>
            <p:nvPr/>
          </p:nvSpPr>
          <p:spPr>
            <a:xfrm flipH="false" flipV="false" rot="0">
              <a:off x="0" y="0"/>
              <a:ext cx="3908390" cy="1605443"/>
            </a:xfrm>
            <a:custGeom>
              <a:avLst/>
              <a:gdLst/>
              <a:ahLst/>
              <a:cxnLst/>
              <a:rect r="r" b="b" t="t" l="l"/>
              <a:pathLst>
                <a:path h="1605443" w="3908390">
                  <a:moveTo>
                    <a:pt x="0" y="0"/>
                  </a:moveTo>
                  <a:lnTo>
                    <a:pt x="3908390" y="0"/>
                  </a:lnTo>
                  <a:lnTo>
                    <a:pt x="3908390" y="1605443"/>
                  </a:lnTo>
                  <a:lnTo>
                    <a:pt x="0" y="1605443"/>
                  </a:lnTo>
                  <a:close/>
                </a:path>
              </a:pathLst>
            </a:custGeom>
            <a:solidFill>
              <a:srgbClr val="FFFFFF">
                <a:alpha val="10980"/>
              </a:srgbClr>
            </a:solidFill>
          </p:spPr>
        </p:sp>
        <p:sp>
          <p:nvSpPr>
            <p:cNvPr name="TextBox 5" id="5"/>
            <p:cNvSpPr txBox="true"/>
            <p:nvPr/>
          </p:nvSpPr>
          <p:spPr>
            <a:xfrm>
              <a:off x="0" y="-47625"/>
              <a:ext cx="3908390" cy="165306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9588" y="751692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3"/>
            <a:stretch>
              <a:fillRect l="0" t="0" r="0" b="0"/>
            </a:stretch>
          </a:blipFill>
        </p:spPr>
      </p:sp>
      <p:grpSp>
        <p:nvGrpSpPr>
          <p:cNvPr name="Group 7" id="7"/>
          <p:cNvGrpSpPr/>
          <p:nvPr/>
        </p:nvGrpSpPr>
        <p:grpSpPr>
          <a:xfrm rot="0">
            <a:off x="15192266" y="134469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879262" y="2326407"/>
            <a:ext cx="14371480" cy="5680075"/>
          </a:xfrm>
          <a:prstGeom prst="rect">
            <a:avLst/>
          </a:prstGeom>
        </p:spPr>
        <p:txBody>
          <a:bodyPr anchor="t" rtlCol="false" tIns="0" lIns="0" bIns="0" rIns="0">
            <a:spAutoFit/>
          </a:bodyPr>
          <a:lstStyle/>
          <a:p>
            <a:pPr algn="just">
              <a:lnSpc>
                <a:spcPts val="4479"/>
              </a:lnSpc>
            </a:pPr>
            <a:r>
              <a:rPr lang="en-US" sz="3199" b="true">
                <a:solidFill>
                  <a:srgbClr val="FFFFFF"/>
                </a:solidFill>
                <a:latin typeface="Tomorrow Bold"/>
                <a:ea typeface="Tomorrow Bold"/>
                <a:cs typeface="Tomorrow Bold"/>
                <a:sym typeface="Tomorrow Bold"/>
              </a:rPr>
              <a:t>4. Hierarchical Database</a:t>
            </a:r>
          </a:p>
          <a:p>
            <a:pPr algn="just" marL="690874" indent="-345437" lvl="1">
              <a:lnSpc>
                <a:spcPts val="4479"/>
              </a:lnSpc>
              <a:buFont typeface="Arial"/>
              <a:buChar char="•"/>
            </a:pPr>
            <a:r>
              <a:rPr lang="en-US" sz="3199">
                <a:solidFill>
                  <a:srgbClr val="FFFFFF"/>
                </a:solidFill>
                <a:latin typeface="Tomorrow"/>
                <a:ea typeface="Tomorrow"/>
                <a:cs typeface="Tomorrow"/>
                <a:sym typeface="Tomorrow"/>
              </a:rPr>
              <a:t>Organizes data in a tree-like structure, where each record (node) has a single parent and has multiple children. This model is similar to a file system with folders and subfolders. It is efficient for storing data with a clear hierarchy, such as organizational charts or file directories. Navigation is fast and predictable due to the fixed structure.</a:t>
            </a:r>
          </a:p>
          <a:p>
            <a:pPr algn="just" marL="712470" indent="-356235" lvl="1">
              <a:lnSpc>
                <a:spcPts val="4620"/>
              </a:lnSpc>
              <a:buFont typeface="Arial"/>
              <a:buChar char="•"/>
            </a:pPr>
            <a:r>
              <a:rPr lang="en-US" sz="3300">
                <a:solidFill>
                  <a:srgbClr val="FFFFFF"/>
                </a:solidFill>
                <a:latin typeface="Tomorrow"/>
                <a:ea typeface="Tomorrow"/>
                <a:cs typeface="Tomorrow"/>
                <a:sym typeface="Tomorrow"/>
              </a:rPr>
              <a:t>It lacks flexibility and is difficult to restructure or handle complex many-to-many relationships.</a:t>
            </a:r>
          </a:p>
          <a:p>
            <a:pPr algn="just">
              <a:lnSpc>
                <a:spcPts val="4620"/>
              </a:lnSpc>
            </a:pPr>
          </a:p>
          <a:p>
            <a:pPr algn="just">
              <a:lnSpc>
                <a:spcPts val="4620"/>
              </a:lnSpc>
            </a:pPr>
            <a:r>
              <a:rPr lang="en-US" sz="3300" b="true">
                <a:solidFill>
                  <a:srgbClr val="FFFFFF"/>
                </a:solidFill>
                <a:latin typeface="Tomorrow Bold"/>
                <a:ea typeface="Tomorrow Bold"/>
                <a:cs typeface="Tomorrow Bold"/>
                <a:sym typeface="Tomorrow Bold"/>
              </a:rPr>
              <a:t>Example: IBM Information Management System (IMS)</a:t>
            </a:r>
          </a:p>
        </p:txBody>
      </p:sp>
      <p:grpSp>
        <p:nvGrpSpPr>
          <p:cNvPr name="Group 11" id="11"/>
          <p:cNvGrpSpPr/>
          <p:nvPr/>
        </p:nvGrpSpPr>
        <p:grpSpPr>
          <a:xfrm rot="0">
            <a:off x="16250742" y="2393082"/>
            <a:ext cx="626183" cy="566519"/>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721829" y="1579328"/>
            <a:ext cx="310192" cy="299142"/>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569070" y="6854327"/>
            <a:ext cx="310192" cy="299142"/>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724166" y="8059204"/>
            <a:ext cx="310192" cy="299142"/>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24166" y="2113107"/>
            <a:ext cx="14839668" cy="6095668"/>
            <a:chOff x="0" y="0"/>
            <a:chExt cx="3908390" cy="1605443"/>
          </a:xfrm>
        </p:grpSpPr>
        <p:sp>
          <p:nvSpPr>
            <p:cNvPr name="Freeform 4" id="4"/>
            <p:cNvSpPr/>
            <p:nvPr/>
          </p:nvSpPr>
          <p:spPr>
            <a:xfrm flipH="false" flipV="false" rot="0">
              <a:off x="0" y="0"/>
              <a:ext cx="3908390" cy="1605443"/>
            </a:xfrm>
            <a:custGeom>
              <a:avLst/>
              <a:gdLst/>
              <a:ahLst/>
              <a:cxnLst/>
              <a:rect r="r" b="b" t="t" l="l"/>
              <a:pathLst>
                <a:path h="1605443" w="3908390">
                  <a:moveTo>
                    <a:pt x="0" y="0"/>
                  </a:moveTo>
                  <a:lnTo>
                    <a:pt x="3908390" y="0"/>
                  </a:lnTo>
                  <a:lnTo>
                    <a:pt x="3908390" y="1605443"/>
                  </a:lnTo>
                  <a:lnTo>
                    <a:pt x="0" y="1605443"/>
                  </a:lnTo>
                  <a:close/>
                </a:path>
              </a:pathLst>
            </a:custGeom>
            <a:solidFill>
              <a:srgbClr val="FFFFFF">
                <a:alpha val="10980"/>
              </a:srgbClr>
            </a:solidFill>
          </p:spPr>
        </p:sp>
        <p:sp>
          <p:nvSpPr>
            <p:cNvPr name="TextBox 5" id="5"/>
            <p:cNvSpPr txBox="true"/>
            <p:nvPr/>
          </p:nvSpPr>
          <p:spPr>
            <a:xfrm>
              <a:off x="0" y="-47625"/>
              <a:ext cx="3908390" cy="165306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9588" y="751692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3"/>
            <a:stretch>
              <a:fillRect l="0" t="0" r="0" b="0"/>
            </a:stretch>
          </a:blipFill>
        </p:spPr>
      </p:sp>
      <p:grpSp>
        <p:nvGrpSpPr>
          <p:cNvPr name="Group 7" id="7"/>
          <p:cNvGrpSpPr/>
          <p:nvPr/>
        </p:nvGrpSpPr>
        <p:grpSpPr>
          <a:xfrm rot="0">
            <a:off x="15192266" y="134469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879262" y="2316882"/>
            <a:ext cx="14371480" cy="6401435"/>
          </a:xfrm>
          <a:prstGeom prst="rect">
            <a:avLst/>
          </a:prstGeom>
        </p:spPr>
        <p:txBody>
          <a:bodyPr anchor="t" rtlCol="false" tIns="0" lIns="0" bIns="0" rIns="0">
            <a:spAutoFit/>
          </a:bodyPr>
          <a:lstStyle/>
          <a:p>
            <a:pPr algn="just">
              <a:lnSpc>
                <a:spcPts val="4619"/>
              </a:lnSpc>
            </a:pPr>
            <a:r>
              <a:rPr lang="en-US" sz="3299" b="true">
                <a:solidFill>
                  <a:srgbClr val="FFFFFF"/>
                </a:solidFill>
                <a:latin typeface="Tomorrow Bold"/>
                <a:ea typeface="Tomorrow Bold"/>
                <a:cs typeface="Tomorrow Bold"/>
                <a:sym typeface="Tomorrow Bold"/>
              </a:rPr>
              <a:t>5. Network Database</a:t>
            </a:r>
          </a:p>
          <a:p>
            <a:pPr algn="just">
              <a:lnSpc>
                <a:spcPts val="4619"/>
              </a:lnSpc>
            </a:pPr>
          </a:p>
          <a:p>
            <a:pPr algn="just" marL="712464" indent="-356232" lvl="1">
              <a:lnSpc>
                <a:spcPts val="4619"/>
              </a:lnSpc>
              <a:buFont typeface="Arial"/>
              <a:buChar char="•"/>
            </a:pPr>
            <a:r>
              <a:rPr lang="en-US" sz="3299">
                <a:solidFill>
                  <a:srgbClr val="FFFFFF"/>
                </a:solidFill>
                <a:latin typeface="Tomorrow"/>
                <a:ea typeface="Tomorrow"/>
                <a:cs typeface="Tomorrow"/>
                <a:sym typeface="Tomorrow"/>
              </a:rPr>
              <a:t>It uses a graph-like model to allow more complex relationships between entities. Unlike the hierarchical model, it permits each child to have multiple parents, enabling many-to-many relationships. Data is represented using records and sets, where sets define the relationships. It is more flexible than the hier</a:t>
            </a:r>
            <a:r>
              <a:rPr lang="en-US" sz="3299">
                <a:solidFill>
                  <a:srgbClr val="FFFFFF"/>
                </a:solidFill>
                <a:latin typeface="Tomorrow"/>
                <a:ea typeface="Tomorrow"/>
                <a:cs typeface="Tomorrow"/>
                <a:sym typeface="Tomorrow"/>
              </a:rPr>
              <a:t>archical model and better suited for applications with complex data linkages.</a:t>
            </a:r>
          </a:p>
          <a:p>
            <a:pPr algn="just">
              <a:lnSpc>
                <a:spcPts val="4619"/>
              </a:lnSpc>
            </a:pPr>
          </a:p>
          <a:p>
            <a:pPr algn="just">
              <a:lnSpc>
                <a:spcPts val="4619"/>
              </a:lnSpc>
            </a:pPr>
            <a:r>
              <a:rPr lang="en-US" sz="3299" b="true">
                <a:solidFill>
                  <a:srgbClr val="FFFFFF"/>
                </a:solidFill>
                <a:latin typeface="Tomorrow Bold"/>
                <a:ea typeface="Tomorrow Bold"/>
                <a:cs typeface="Tomorrow Bold"/>
                <a:sym typeface="Tomorrow Bold"/>
              </a:rPr>
              <a:t>Example: Integrated Data Store (IDS), TurboIMAGE</a:t>
            </a:r>
          </a:p>
          <a:p>
            <a:pPr algn="just">
              <a:lnSpc>
                <a:spcPts val="4759"/>
              </a:lnSpc>
            </a:pPr>
          </a:p>
        </p:txBody>
      </p:sp>
      <p:grpSp>
        <p:nvGrpSpPr>
          <p:cNvPr name="Group 11" id="11"/>
          <p:cNvGrpSpPr/>
          <p:nvPr/>
        </p:nvGrpSpPr>
        <p:grpSpPr>
          <a:xfrm rot="0">
            <a:off x="16250742" y="2393082"/>
            <a:ext cx="626183" cy="566519"/>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721829" y="1579328"/>
            <a:ext cx="310192" cy="299142"/>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569070" y="6854327"/>
            <a:ext cx="310192" cy="299142"/>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724166" y="8059204"/>
            <a:ext cx="310192" cy="299142"/>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724166" y="2113107"/>
            <a:ext cx="14839668" cy="6095668"/>
            <a:chOff x="0" y="0"/>
            <a:chExt cx="3908390" cy="1605443"/>
          </a:xfrm>
        </p:grpSpPr>
        <p:sp>
          <p:nvSpPr>
            <p:cNvPr name="Freeform 4" id="4"/>
            <p:cNvSpPr/>
            <p:nvPr/>
          </p:nvSpPr>
          <p:spPr>
            <a:xfrm flipH="false" flipV="false" rot="0">
              <a:off x="0" y="0"/>
              <a:ext cx="3908390" cy="1605443"/>
            </a:xfrm>
            <a:custGeom>
              <a:avLst/>
              <a:gdLst/>
              <a:ahLst/>
              <a:cxnLst/>
              <a:rect r="r" b="b" t="t" l="l"/>
              <a:pathLst>
                <a:path h="1605443" w="3908390">
                  <a:moveTo>
                    <a:pt x="0" y="0"/>
                  </a:moveTo>
                  <a:lnTo>
                    <a:pt x="3908390" y="0"/>
                  </a:lnTo>
                  <a:lnTo>
                    <a:pt x="3908390" y="1605443"/>
                  </a:lnTo>
                  <a:lnTo>
                    <a:pt x="0" y="1605443"/>
                  </a:lnTo>
                  <a:close/>
                </a:path>
              </a:pathLst>
            </a:custGeom>
            <a:solidFill>
              <a:srgbClr val="FFFFFF">
                <a:alpha val="10980"/>
              </a:srgbClr>
            </a:solidFill>
          </p:spPr>
        </p:sp>
        <p:sp>
          <p:nvSpPr>
            <p:cNvPr name="TextBox 5" id="5"/>
            <p:cNvSpPr txBox="true"/>
            <p:nvPr/>
          </p:nvSpPr>
          <p:spPr>
            <a:xfrm>
              <a:off x="0" y="-47625"/>
              <a:ext cx="3908390" cy="165306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79588" y="751692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3"/>
            <a:stretch>
              <a:fillRect l="0" t="0" r="0" b="0"/>
            </a:stretch>
          </a:blipFill>
        </p:spPr>
      </p:sp>
      <p:grpSp>
        <p:nvGrpSpPr>
          <p:cNvPr name="Group 7" id="7"/>
          <p:cNvGrpSpPr/>
          <p:nvPr/>
        </p:nvGrpSpPr>
        <p:grpSpPr>
          <a:xfrm rot="0">
            <a:off x="15192266" y="1344691"/>
            <a:ext cx="747321" cy="768415"/>
            <a:chOff x="0" y="0"/>
            <a:chExt cx="196825" cy="202381"/>
          </a:xfrm>
        </p:grpSpPr>
        <p:sp>
          <p:nvSpPr>
            <p:cNvPr name="Freeform 8" id="8"/>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9" id="9"/>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879262" y="2326407"/>
            <a:ext cx="14371480" cy="5977890"/>
          </a:xfrm>
          <a:prstGeom prst="rect">
            <a:avLst/>
          </a:prstGeom>
        </p:spPr>
        <p:txBody>
          <a:bodyPr anchor="t" rtlCol="false" tIns="0" lIns="0" bIns="0" rIns="0">
            <a:spAutoFit/>
          </a:bodyPr>
          <a:lstStyle/>
          <a:p>
            <a:pPr algn="just">
              <a:lnSpc>
                <a:spcPts val="4339"/>
              </a:lnSpc>
            </a:pPr>
            <a:r>
              <a:rPr lang="en-US" sz="3099" b="true">
                <a:solidFill>
                  <a:srgbClr val="FFFFFF"/>
                </a:solidFill>
                <a:latin typeface="Tomorrow Bold"/>
                <a:ea typeface="Tomorrow Bold"/>
                <a:cs typeface="Tomorrow Bold"/>
                <a:sym typeface="Tomorrow Bold"/>
              </a:rPr>
              <a:t>6. Cloud-Based Database</a:t>
            </a:r>
          </a:p>
          <a:p>
            <a:pPr algn="just" marL="669285" indent="-334642" lvl="1">
              <a:lnSpc>
                <a:spcPts val="4339"/>
              </a:lnSpc>
              <a:buFont typeface="Arial"/>
              <a:buChar char="•"/>
            </a:pPr>
            <a:r>
              <a:rPr lang="en-US" sz="3099">
                <a:solidFill>
                  <a:srgbClr val="FFFFFF"/>
                </a:solidFill>
                <a:latin typeface="Tomorrow"/>
                <a:ea typeface="Tomorrow"/>
                <a:cs typeface="Tomorrow"/>
                <a:sym typeface="Tomorrow"/>
              </a:rPr>
              <a:t>They are hosted on cloud computing platforms like AWS, Azure or Google Cloud. They offer on-demand scalability, high availability, automatic backups and remote accessibility. These databases can be relational (SQL) or non-relational (NoSQL) and are maintained by cloud serv</a:t>
            </a:r>
            <a:r>
              <a:rPr lang="en-US" sz="3099">
                <a:solidFill>
                  <a:srgbClr val="FFFFFF"/>
                </a:solidFill>
                <a:latin typeface="Tomorrow"/>
                <a:ea typeface="Tomorrow"/>
                <a:cs typeface="Tomorrow"/>
                <a:sym typeface="Tomorrow"/>
              </a:rPr>
              <a:t>ice providers, reducing administrative overhead. They support modern application requirements, including distributed access and real-time analytics.</a:t>
            </a:r>
          </a:p>
          <a:p>
            <a:pPr algn="just">
              <a:lnSpc>
                <a:spcPts val="4339"/>
              </a:lnSpc>
            </a:pPr>
            <a:r>
              <a:rPr lang="en-US" sz="3099" b="true">
                <a:solidFill>
                  <a:srgbClr val="FFFFFF"/>
                </a:solidFill>
                <a:latin typeface="Tomorrow Bold"/>
                <a:ea typeface="Tomorrow Bold"/>
                <a:cs typeface="Tomorrow Bold"/>
                <a:sym typeface="Tomorrow Bold"/>
              </a:rPr>
              <a:t>Example: Amazon RDS (for SQL), MongoDB Atlas (for NoSQL), Google BigQuery</a:t>
            </a:r>
          </a:p>
          <a:p>
            <a:pPr algn="just">
              <a:lnSpc>
                <a:spcPts val="4480"/>
              </a:lnSpc>
            </a:pPr>
          </a:p>
        </p:txBody>
      </p:sp>
      <p:grpSp>
        <p:nvGrpSpPr>
          <p:cNvPr name="Group 11" id="11"/>
          <p:cNvGrpSpPr/>
          <p:nvPr/>
        </p:nvGrpSpPr>
        <p:grpSpPr>
          <a:xfrm rot="0">
            <a:off x="16250742" y="2393082"/>
            <a:ext cx="626183" cy="566519"/>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6721829" y="1579328"/>
            <a:ext cx="310192" cy="299142"/>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569070" y="6854327"/>
            <a:ext cx="310192" cy="299142"/>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1724166" y="8059204"/>
            <a:ext cx="310192" cy="299142"/>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592651" y="1565681"/>
            <a:ext cx="13102697" cy="6787141"/>
            <a:chOff x="0" y="0"/>
            <a:chExt cx="3450916" cy="1787560"/>
          </a:xfrm>
        </p:grpSpPr>
        <p:sp>
          <p:nvSpPr>
            <p:cNvPr name="Freeform 4" id="4"/>
            <p:cNvSpPr/>
            <p:nvPr/>
          </p:nvSpPr>
          <p:spPr>
            <a:xfrm flipH="false" flipV="false" rot="0">
              <a:off x="0" y="0"/>
              <a:ext cx="3450916" cy="1787560"/>
            </a:xfrm>
            <a:custGeom>
              <a:avLst/>
              <a:gdLst/>
              <a:ahLst/>
              <a:cxnLst/>
              <a:rect r="r" b="b" t="t" l="l"/>
              <a:pathLst>
                <a:path h="1787560" w="3450916">
                  <a:moveTo>
                    <a:pt x="0" y="0"/>
                  </a:moveTo>
                  <a:lnTo>
                    <a:pt x="3450916" y="0"/>
                  </a:lnTo>
                  <a:lnTo>
                    <a:pt x="3450916" y="1787560"/>
                  </a:lnTo>
                  <a:lnTo>
                    <a:pt x="0" y="1787560"/>
                  </a:lnTo>
                  <a:close/>
                </a:path>
              </a:pathLst>
            </a:custGeom>
            <a:solidFill>
              <a:srgbClr val="FFFFFF">
                <a:alpha val="10980"/>
              </a:srgbClr>
            </a:solidFill>
          </p:spPr>
        </p:sp>
        <p:sp>
          <p:nvSpPr>
            <p:cNvPr name="TextBox 5" id="5"/>
            <p:cNvSpPr txBox="true"/>
            <p:nvPr/>
          </p:nvSpPr>
          <p:spPr>
            <a:xfrm>
              <a:off x="0" y="-47625"/>
              <a:ext cx="3450916" cy="183518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769652" y="1689432"/>
            <a:ext cx="8748696" cy="1775477"/>
          </a:xfrm>
          <a:prstGeom prst="rect">
            <a:avLst/>
          </a:prstGeom>
        </p:spPr>
        <p:txBody>
          <a:bodyPr anchor="t" rtlCol="false" tIns="0" lIns="0" bIns="0" rIns="0">
            <a:spAutoFit/>
          </a:bodyPr>
          <a:lstStyle/>
          <a:p>
            <a:pPr algn="ctr"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Components of a database</a:t>
            </a:r>
          </a:p>
        </p:txBody>
      </p:sp>
      <p:sp>
        <p:nvSpPr>
          <p:cNvPr name="TextBox 7" id="7"/>
          <p:cNvSpPr txBox="true"/>
          <p:nvPr/>
        </p:nvSpPr>
        <p:spPr>
          <a:xfrm rot="0">
            <a:off x="3082017" y="4329571"/>
            <a:ext cx="12123967" cy="3226539"/>
          </a:xfrm>
          <a:prstGeom prst="rect">
            <a:avLst/>
          </a:prstGeom>
        </p:spPr>
        <p:txBody>
          <a:bodyPr anchor="t" rtlCol="false" tIns="0" lIns="0" bIns="0" rIns="0">
            <a:spAutoFit/>
          </a:bodyPr>
          <a:lstStyle/>
          <a:p>
            <a:pPr algn="just">
              <a:lnSpc>
                <a:spcPts val="3669"/>
              </a:lnSpc>
            </a:pPr>
            <a:r>
              <a:rPr lang="en-US" sz="2621">
                <a:solidFill>
                  <a:srgbClr val="FFFFFF"/>
                </a:solidFill>
                <a:latin typeface="Tomorrow"/>
                <a:ea typeface="Tomorrow"/>
                <a:cs typeface="Tomorrow"/>
                <a:sym typeface="Tomorrow"/>
              </a:rPr>
              <a:t> To understand how a database works, it's important to know its key components. These parts work together to organize, store, and retrieve data efficiently. Whether you're using a simple database or a complex system, the basic building blocks—like tables, fields, and keys—remain the same. In this section, we'll look at the essential components that make up a database and how they help manage and structure data effectively.</a:t>
            </a:r>
          </a:p>
          <a:p>
            <a:pPr algn="just">
              <a:lnSpc>
                <a:spcPts val="3669"/>
              </a:lnSpc>
            </a:pPr>
          </a:p>
        </p:txBody>
      </p:sp>
      <p:sp>
        <p:nvSpPr>
          <p:cNvPr name="Freeform 8" id="8"/>
          <p:cNvSpPr/>
          <p:nvPr/>
        </p:nvSpPr>
        <p:spPr>
          <a:xfrm flipH="false" flipV="false" rot="0">
            <a:off x="-899330" y="7082729"/>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sp>
        <p:nvSpPr>
          <p:cNvPr name="Freeform 9" id="9"/>
          <p:cNvSpPr/>
          <p:nvPr/>
        </p:nvSpPr>
        <p:spPr>
          <a:xfrm flipH="false" flipV="false" rot="0">
            <a:off x="-106998" y="-260181"/>
            <a:ext cx="3054681" cy="2884977"/>
          </a:xfrm>
          <a:custGeom>
            <a:avLst/>
            <a:gdLst/>
            <a:ahLst/>
            <a:cxnLst/>
            <a:rect r="r" b="b" t="t" l="l"/>
            <a:pathLst>
              <a:path h="2884977" w="3054681">
                <a:moveTo>
                  <a:pt x="0" y="0"/>
                </a:moveTo>
                <a:lnTo>
                  <a:pt x="3054681" y="0"/>
                </a:lnTo>
                <a:lnTo>
                  <a:pt x="3054681" y="2884976"/>
                </a:lnTo>
                <a:lnTo>
                  <a:pt x="0" y="28849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444080">
            <a:off x="15494559" y="6180712"/>
            <a:ext cx="3529482" cy="3186163"/>
          </a:xfrm>
          <a:custGeom>
            <a:avLst/>
            <a:gdLst/>
            <a:ahLst/>
            <a:cxnLst/>
            <a:rect r="r" b="b" t="t" l="l"/>
            <a:pathLst>
              <a:path h="3186163" w="3529482">
                <a:moveTo>
                  <a:pt x="0" y="0"/>
                </a:moveTo>
                <a:lnTo>
                  <a:pt x="3529482" y="0"/>
                </a:lnTo>
                <a:lnTo>
                  <a:pt x="3529482" y="3186163"/>
                </a:lnTo>
                <a:lnTo>
                  <a:pt x="0" y="318616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16722033" y="2325653"/>
            <a:ext cx="310192" cy="299142"/>
            <a:chOff x="0" y="0"/>
            <a:chExt cx="81697" cy="78786"/>
          </a:xfrm>
        </p:grpSpPr>
        <p:sp>
          <p:nvSpPr>
            <p:cNvPr name="Freeform 12" id="1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3" id="1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7486375" y="2988253"/>
            <a:ext cx="310192" cy="299142"/>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490860" y="649173"/>
            <a:ext cx="12978160" cy="8931760"/>
            <a:chOff x="0" y="0"/>
            <a:chExt cx="3418116" cy="2352398"/>
          </a:xfrm>
        </p:grpSpPr>
        <p:sp>
          <p:nvSpPr>
            <p:cNvPr name="Freeform 4" id="4"/>
            <p:cNvSpPr/>
            <p:nvPr/>
          </p:nvSpPr>
          <p:spPr>
            <a:xfrm flipH="false" flipV="false" rot="0">
              <a:off x="0" y="0"/>
              <a:ext cx="3418116" cy="2352398"/>
            </a:xfrm>
            <a:custGeom>
              <a:avLst/>
              <a:gdLst/>
              <a:ahLst/>
              <a:cxnLst/>
              <a:rect r="r" b="b" t="t" l="l"/>
              <a:pathLst>
                <a:path h="2352398" w="3418116">
                  <a:moveTo>
                    <a:pt x="0" y="0"/>
                  </a:moveTo>
                  <a:lnTo>
                    <a:pt x="3418116" y="0"/>
                  </a:lnTo>
                  <a:lnTo>
                    <a:pt x="3418116" y="2352398"/>
                  </a:lnTo>
                  <a:lnTo>
                    <a:pt x="0" y="2352398"/>
                  </a:lnTo>
                  <a:close/>
                </a:path>
              </a:pathLst>
            </a:custGeom>
            <a:solidFill>
              <a:srgbClr val="FFFFFF">
                <a:alpha val="10980"/>
              </a:srgbClr>
            </a:solidFill>
          </p:spPr>
        </p:sp>
        <p:sp>
          <p:nvSpPr>
            <p:cNvPr name="TextBox 5" id="5"/>
            <p:cNvSpPr txBox="true"/>
            <p:nvPr/>
          </p:nvSpPr>
          <p:spPr>
            <a:xfrm>
              <a:off x="0" y="-47625"/>
              <a:ext cx="3418116" cy="2400023"/>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038227" y="706323"/>
            <a:ext cx="12683806" cy="9869805"/>
          </a:xfrm>
          <a:prstGeom prst="rect">
            <a:avLst/>
          </a:prstGeom>
        </p:spPr>
        <p:txBody>
          <a:bodyPr anchor="t" rtlCol="false" tIns="0" lIns="0" bIns="0" rIns="0">
            <a:spAutoFit/>
          </a:bodyPr>
          <a:lstStyle/>
          <a:p>
            <a:pPr algn="just">
              <a:lnSpc>
                <a:spcPts val="4620"/>
              </a:lnSpc>
            </a:pPr>
            <a:r>
              <a:rPr lang="en-US" sz="3300" b="true">
                <a:solidFill>
                  <a:srgbClr val="FFFFFF"/>
                </a:solidFill>
                <a:latin typeface="Tomorrow Bold"/>
                <a:ea typeface="Tomorrow Bold"/>
                <a:cs typeface="Tomorrow Bold"/>
                <a:sym typeface="Tomorrow Bold"/>
              </a:rPr>
              <a:t>Tables</a:t>
            </a:r>
            <a:r>
              <a:rPr lang="en-US" sz="3300">
                <a:solidFill>
                  <a:srgbClr val="FFFFFF"/>
                </a:solidFill>
                <a:latin typeface="Tomorrow"/>
                <a:ea typeface="Tomorrow"/>
                <a:cs typeface="Tomorrow"/>
                <a:sym typeface="Tomorrow"/>
              </a:rPr>
              <a:t>: Basic units where data is stored</a:t>
            </a:r>
          </a:p>
          <a:p>
            <a:pPr algn="just">
              <a:lnSpc>
                <a:spcPts val="4620"/>
              </a:lnSpc>
            </a:pPr>
          </a:p>
          <a:p>
            <a:pPr algn="just">
              <a:lnSpc>
                <a:spcPts val="4620"/>
              </a:lnSpc>
            </a:pPr>
            <a:r>
              <a:rPr lang="en-US" sz="3300" b="true">
                <a:solidFill>
                  <a:srgbClr val="FFFFFF"/>
                </a:solidFill>
                <a:latin typeface="Tomorrow Bold"/>
                <a:ea typeface="Tomorrow Bold"/>
                <a:cs typeface="Tomorrow Bold"/>
                <a:sym typeface="Tomorrow Bold"/>
              </a:rPr>
              <a:t>Fields (columns): </a:t>
            </a:r>
            <a:r>
              <a:rPr lang="en-US" sz="3300">
                <a:solidFill>
                  <a:srgbClr val="FFFFFF"/>
                </a:solidFill>
                <a:latin typeface="Tomorrow"/>
                <a:ea typeface="Tomorrow"/>
                <a:cs typeface="Tomorrow"/>
                <a:sym typeface="Tomorrow"/>
              </a:rPr>
              <a:t>Describe the type of data</a:t>
            </a:r>
          </a:p>
          <a:p>
            <a:pPr algn="just">
              <a:lnSpc>
                <a:spcPts val="4620"/>
              </a:lnSpc>
            </a:pPr>
          </a:p>
          <a:p>
            <a:pPr algn="just">
              <a:lnSpc>
                <a:spcPts val="4620"/>
              </a:lnSpc>
            </a:pPr>
            <a:r>
              <a:rPr lang="en-US" sz="3300" b="true">
                <a:solidFill>
                  <a:srgbClr val="FFFFFF"/>
                </a:solidFill>
                <a:latin typeface="Tomorrow Bold"/>
                <a:ea typeface="Tomorrow Bold"/>
                <a:cs typeface="Tomorrow Bold"/>
                <a:sym typeface="Tomorrow Bold"/>
              </a:rPr>
              <a:t>Records (rows): </a:t>
            </a:r>
            <a:r>
              <a:rPr lang="en-US" sz="3300">
                <a:solidFill>
                  <a:srgbClr val="FFFFFF"/>
                </a:solidFill>
                <a:latin typeface="Tomorrow"/>
                <a:ea typeface="Tomorrow"/>
                <a:cs typeface="Tomorrow"/>
                <a:sym typeface="Tomorrow"/>
              </a:rPr>
              <a:t>Individual entries</a:t>
            </a:r>
          </a:p>
          <a:p>
            <a:pPr algn="just">
              <a:lnSpc>
                <a:spcPts val="4620"/>
              </a:lnSpc>
            </a:pPr>
          </a:p>
          <a:p>
            <a:pPr algn="just">
              <a:lnSpc>
                <a:spcPts val="4620"/>
              </a:lnSpc>
            </a:pPr>
            <a:r>
              <a:rPr lang="en-US" sz="3300" b="true">
                <a:solidFill>
                  <a:srgbClr val="FFFFFF"/>
                </a:solidFill>
                <a:latin typeface="Tomorrow Bold"/>
                <a:ea typeface="Tomorrow Bold"/>
                <a:cs typeface="Tomorrow Bold"/>
                <a:sym typeface="Tomorrow Bold"/>
              </a:rPr>
              <a:t>Primary Key</a:t>
            </a:r>
            <a:r>
              <a:rPr lang="en-US" sz="3300">
                <a:solidFill>
                  <a:srgbClr val="FFFFFF"/>
                </a:solidFill>
                <a:latin typeface="Tomorrow"/>
                <a:ea typeface="Tomorrow"/>
                <a:cs typeface="Tomorrow"/>
                <a:sym typeface="Tomorrow"/>
              </a:rPr>
              <a:t>: Unique identifier for a record</a:t>
            </a:r>
          </a:p>
          <a:p>
            <a:pPr algn="just">
              <a:lnSpc>
                <a:spcPts val="4620"/>
              </a:lnSpc>
            </a:pPr>
          </a:p>
          <a:p>
            <a:pPr algn="just">
              <a:lnSpc>
                <a:spcPts val="4620"/>
              </a:lnSpc>
            </a:pPr>
            <a:r>
              <a:rPr lang="en-US" sz="3300" b="true">
                <a:solidFill>
                  <a:srgbClr val="FFFFFF"/>
                </a:solidFill>
                <a:latin typeface="Tomorrow Bold"/>
                <a:ea typeface="Tomorrow Bold"/>
                <a:cs typeface="Tomorrow Bold"/>
                <a:sym typeface="Tomorrow Bold"/>
              </a:rPr>
              <a:t>Foreign Key</a:t>
            </a:r>
            <a:r>
              <a:rPr lang="en-US" sz="3300">
                <a:solidFill>
                  <a:srgbClr val="FFFFFF"/>
                </a:solidFill>
                <a:latin typeface="Tomorrow"/>
                <a:ea typeface="Tomorrow"/>
                <a:cs typeface="Tomorrow"/>
                <a:sym typeface="Tomorrow"/>
              </a:rPr>
              <a:t>: Connects data across tables</a:t>
            </a:r>
          </a:p>
          <a:p>
            <a:pPr algn="just">
              <a:lnSpc>
                <a:spcPts val="4620"/>
              </a:lnSpc>
            </a:pPr>
          </a:p>
          <a:p>
            <a:pPr algn="just">
              <a:lnSpc>
                <a:spcPts val="4620"/>
              </a:lnSpc>
            </a:pPr>
            <a:r>
              <a:rPr lang="en-US" sz="3300" b="true">
                <a:solidFill>
                  <a:srgbClr val="FFFFFF"/>
                </a:solidFill>
                <a:latin typeface="Tomorrow Bold"/>
                <a:ea typeface="Tomorrow Bold"/>
                <a:cs typeface="Tomorrow Bold"/>
                <a:sym typeface="Tomorrow Bold"/>
              </a:rPr>
              <a:t>Index</a:t>
            </a:r>
            <a:r>
              <a:rPr lang="en-US" sz="3300">
                <a:solidFill>
                  <a:srgbClr val="FFFFFF"/>
                </a:solidFill>
                <a:latin typeface="Tomorrow"/>
                <a:ea typeface="Tomorrow"/>
                <a:cs typeface="Tomorrow"/>
                <a:sym typeface="Tomorrow"/>
              </a:rPr>
              <a:t>: Improves data retrieval speed</a:t>
            </a:r>
          </a:p>
          <a:p>
            <a:pPr algn="just">
              <a:lnSpc>
                <a:spcPts val="4620"/>
              </a:lnSpc>
            </a:pPr>
          </a:p>
          <a:p>
            <a:pPr algn="just">
              <a:lnSpc>
                <a:spcPts val="4620"/>
              </a:lnSpc>
            </a:pPr>
            <a:r>
              <a:rPr lang="en-US" sz="3300" b="true">
                <a:solidFill>
                  <a:srgbClr val="FFFFFF"/>
                </a:solidFill>
                <a:latin typeface="Tomorrow Bold"/>
                <a:ea typeface="Tomorrow Bold"/>
                <a:cs typeface="Tomorrow Bold"/>
                <a:sym typeface="Tomorrow Bold"/>
              </a:rPr>
              <a:t>View</a:t>
            </a:r>
            <a:r>
              <a:rPr lang="en-US" sz="3300">
                <a:solidFill>
                  <a:srgbClr val="FFFFFF"/>
                </a:solidFill>
                <a:latin typeface="Tomorrow"/>
                <a:ea typeface="Tomorrow"/>
                <a:cs typeface="Tomorrow"/>
                <a:sym typeface="Tomorrow"/>
              </a:rPr>
              <a:t>: Virtual table created from a query</a:t>
            </a:r>
          </a:p>
          <a:p>
            <a:pPr algn="just">
              <a:lnSpc>
                <a:spcPts val="4620"/>
              </a:lnSpc>
            </a:pPr>
          </a:p>
          <a:p>
            <a:pPr algn="just">
              <a:lnSpc>
                <a:spcPts val="4620"/>
              </a:lnSpc>
            </a:pPr>
            <a:r>
              <a:rPr lang="en-US" sz="3300" b="true">
                <a:solidFill>
                  <a:srgbClr val="FFFFFF"/>
                </a:solidFill>
                <a:latin typeface="Tomorrow Bold"/>
                <a:ea typeface="Tomorrow Bold"/>
                <a:cs typeface="Tomorrow Bold"/>
                <a:sym typeface="Tomorrow Bold"/>
              </a:rPr>
              <a:t>Schema</a:t>
            </a:r>
            <a:r>
              <a:rPr lang="en-US" sz="3300">
                <a:solidFill>
                  <a:srgbClr val="FFFFFF"/>
                </a:solidFill>
                <a:latin typeface="Tomorrow"/>
                <a:ea typeface="Tomorrow"/>
                <a:cs typeface="Tomorrow"/>
                <a:sym typeface="Tomorrow"/>
              </a:rPr>
              <a:t>: Blueprint of the database structure</a:t>
            </a:r>
          </a:p>
          <a:p>
            <a:pPr algn="just">
              <a:lnSpc>
                <a:spcPts val="4620"/>
              </a:lnSpc>
            </a:pPr>
          </a:p>
          <a:p>
            <a:pPr algn="just">
              <a:lnSpc>
                <a:spcPts val="4620"/>
              </a:lnSpc>
            </a:pPr>
          </a:p>
        </p:txBody>
      </p:sp>
      <p:sp>
        <p:nvSpPr>
          <p:cNvPr name="Freeform 7" id="7"/>
          <p:cNvSpPr/>
          <p:nvPr/>
        </p:nvSpPr>
        <p:spPr>
          <a:xfrm flipH="false" flipV="false" rot="0">
            <a:off x="-899330" y="7082729"/>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sp>
        <p:nvSpPr>
          <p:cNvPr name="Freeform 8" id="8"/>
          <p:cNvSpPr/>
          <p:nvPr/>
        </p:nvSpPr>
        <p:spPr>
          <a:xfrm flipH="false" flipV="false" rot="444080">
            <a:off x="15494559" y="6180712"/>
            <a:ext cx="3529482" cy="3186163"/>
          </a:xfrm>
          <a:custGeom>
            <a:avLst/>
            <a:gdLst/>
            <a:ahLst/>
            <a:cxnLst/>
            <a:rect r="r" b="b" t="t" l="l"/>
            <a:pathLst>
              <a:path h="3186163" w="3529482">
                <a:moveTo>
                  <a:pt x="0" y="0"/>
                </a:moveTo>
                <a:lnTo>
                  <a:pt x="3529482" y="0"/>
                </a:lnTo>
                <a:lnTo>
                  <a:pt x="3529482" y="3186163"/>
                </a:lnTo>
                <a:lnTo>
                  <a:pt x="0" y="31861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1505602" y="1365345"/>
            <a:ext cx="747321" cy="768415"/>
            <a:chOff x="0" y="0"/>
            <a:chExt cx="196825" cy="202381"/>
          </a:xfrm>
        </p:grpSpPr>
        <p:sp>
          <p:nvSpPr>
            <p:cNvPr name="Freeform 10" id="10"/>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1" id="11"/>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870704" y="2637209"/>
            <a:ext cx="626183" cy="566519"/>
            <a:chOff x="0" y="0"/>
            <a:chExt cx="164921" cy="149207"/>
          </a:xfrm>
        </p:grpSpPr>
        <p:sp>
          <p:nvSpPr>
            <p:cNvPr name="Freeform 13" id="13"/>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4" id="14"/>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208993" y="350031"/>
            <a:ext cx="310192" cy="299142"/>
            <a:chOff x="0" y="0"/>
            <a:chExt cx="81697" cy="78786"/>
          </a:xfrm>
        </p:grpSpPr>
        <p:sp>
          <p:nvSpPr>
            <p:cNvPr name="Freeform 16" id="16"/>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7" id="17"/>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6722033" y="2325653"/>
            <a:ext cx="310192" cy="299142"/>
            <a:chOff x="0" y="0"/>
            <a:chExt cx="81697" cy="78786"/>
          </a:xfrm>
        </p:grpSpPr>
        <p:sp>
          <p:nvSpPr>
            <p:cNvPr name="Freeform 19" id="19"/>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0" id="20"/>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7486375" y="2988253"/>
            <a:ext cx="310192" cy="299142"/>
            <a:chOff x="0" y="0"/>
            <a:chExt cx="81697" cy="78786"/>
          </a:xfrm>
        </p:grpSpPr>
        <p:sp>
          <p:nvSpPr>
            <p:cNvPr name="Freeform 22" id="22"/>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3" id="23"/>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183796" y="1024972"/>
            <a:ext cx="12566730" cy="8233328"/>
            <a:chOff x="0" y="0"/>
            <a:chExt cx="3309756" cy="2168449"/>
          </a:xfrm>
        </p:grpSpPr>
        <p:sp>
          <p:nvSpPr>
            <p:cNvPr name="Freeform 4" id="4"/>
            <p:cNvSpPr/>
            <p:nvPr/>
          </p:nvSpPr>
          <p:spPr>
            <a:xfrm flipH="false" flipV="false" rot="0">
              <a:off x="0" y="0"/>
              <a:ext cx="3309756" cy="2168449"/>
            </a:xfrm>
            <a:custGeom>
              <a:avLst/>
              <a:gdLst/>
              <a:ahLst/>
              <a:cxnLst/>
              <a:rect r="r" b="b" t="t" l="l"/>
              <a:pathLst>
                <a:path h="2168449" w="3309756">
                  <a:moveTo>
                    <a:pt x="0" y="0"/>
                  </a:moveTo>
                  <a:lnTo>
                    <a:pt x="3309756" y="0"/>
                  </a:lnTo>
                  <a:lnTo>
                    <a:pt x="3309756" y="2168449"/>
                  </a:lnTo>
                  <a:lnTo>
                    <a:pt x="0" y="2168449"/>
                  </a:lnTo>
                  <a:close/>
                </a:path>
              </a:pathLst>
            </a:custGeom>
            <a:solidFill>
              <a:srgbClr val="FFFFFF">
                <a:alpha val="10980"/>
              </a:srgbClr>
            </a:solidFill>
          </p:spPr>
        </p:sp>
        <p:sp>
          <p:nvSpPr>
            <p:cNvPr name="TextBox 5" id="5"/>
            <p:cNvSpPr txBox="true"/>
            <p:nvPr/>
          </p:nvSpPr>
          <p:spPr>
            <a:xfrm>
              <a:off x="0" y="-47625"/>
              <a:ext cx="3309756" cy="2216074"/>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430510" y="1435223"/>
            <a:ext cx="9813147" cy="870602"/>
          </a:xfrm>
          <a:prstGeom prst="rect">
            <a:avLst/>
          </a:prstGeom>
        </p:spPr>
        <p:txBody>
          <a:bodyPr anchor="t" rtlCol="false" tIns="0" lIns="0" bIns="0" rIns="0">
            <a:spAutoFit/>
          </a:bodyPr>
          <a:lstStyle/>
          <a:p>
            <a:pPr algn="l"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Wh</a:t>
            </a:r>
            <a:r>
              <a:rPr lang="en-US" sz="5099" strike="noStrike" u="none">
                <a:solidFill>
                  <a:srgbClr val="FFFFFF"/>
                </a:solidFill>
                <a:latin typeface="Architype Van Der Leck"/>
                <a:ea typeface="Architype Van Der Leck"/>
                <a:cs typeface="Architype Van Der Leck"/>
                <a:sym typeface="Architype Van Der Leck"/>
              </a:rPr>
              <a:t>at is a DBMS?</a:t>
            </a:r>
          </a:p>
        </p:txBody>
      </p:sp>
      <p:sp>
        <p:nvSpPr>
          <p:cNvPr name="TextBox 7" id="7"/>
          <p:cNvSpPr txBox="true"/>
          <p:nvPr/>
        </p:nvSpPr>
        <p:spPr>
          <a:xfrm rot="0">
            <a:off x="1810448" y="2713821"/>
            <a:ext cx="10769961" cy="6383655"/>
          </a:xfrm>
          <a:prstGeom prst="rect">
            <a:avLst/>
          </a:prstGeom>
        </p:spPr>
        <p:txBody>
          <a:bodyPr anchor="t" rtlCol="false" tIns="0" lIns="0" bIns="0" rIns="0">
            <a:spAutoFit/>
          </a:bodyPr>
          <a:lstStyle/>
          <a:p>
            <a:pPr algn="just">
              <a:lnSpc>
                <a:spcPts val="4620"/>
              </a:lnSpc>
            </a:pPr>
            <a:r>
              <a:rPr lang="en-US" sz="3300">
                <a:solidFill>
                  <a:srgbClr val="FFFFFF"/>
                </a:solidFill>
                <a:latin typeface="Tomorrow"/>
                <a:ea typeface="Tomorrow"/>
                <a:cs typeface="Tomorrow"/>
                <a:sym typeface="Tomorrow"/>
              </a:rPr>
              <a:t> A </a:t>
            </a:r>
            <a:r>
              <a:rPr lang="en-US" sz="3300" b="true">
                <a:solidFill>
                  <a:srgbClr val="FFFFFF"/>
                </a:solidFill>
                <a:latin typeface="Tomorrow Bold"/>
                <a:ea typeface="Tomorrow Bold"/>
                <a:cs typeface="Tomorrow Bold"/>
                <a:sym typeface="Tomorrow Bold"/>
              </a:rPr>
              <a:t>Database Management System (DBMS)</a:t>
            </a:r>
            <a:r>
              <a:rPr lang="en-US" sz="3300">
                <a:solidFill>
                  <a:srgbClr val="FFFFFF"/>
                </a:solidFill>
                <a:latin typeface="Tomorrow"/>
                <a:ea typeface="Tomorrow"/>
                <a:cs typeface="Tomorrow"/>
                <a:sym typeface="Tomorrow"/>
              </a:rPr>
              <a:t> is the software that makes it possible to interact with a database. It serves as the bridge between users, applications, and the data itself—making it easier to store, access, and manage information efficiently. In this section, we'll look at the key roles a DBMS plays, such as ensuring data security, maintaining integrity, and supporting backup and recovery. We'll also touch on some of the most popular DBMS options used today.</a:t>
            </a:r>
          </a:p>
          <a:p>
            <a:pPr algn="just">
              <a:lnSpc>
                <a:spcPts val="4620"/>
              </a:lnSpc>
            </a:pPr>
          </a:p>
        </p:txBody>
      </p:sp>
      <p:sp>
        <p:nvSpPr>
          <p:cNvPr name="Freeform 8" id="8"/>
          <p:cNvSpPr/>
          <p:nvPr/>
        </p:nvSpPr>
        <p:spPr>
          <a:xfrm flipH="false" flipV="false" rot="0">
            <a:off x="12580409" y="4053761"/>
            <a:ext cx="4928490" cy="5204539"/>
          </a:xfrm>
          <a:custGeom>
            <a:avLst/>
            <a:gdLst/>
            <a:ahLst/>
            <a:cxnLst/>
            <a:rect r="r" b="b" t="t" l="l"/>
            <a:pathLst>
              <a:path h="5204539" w="4928490">
                <a:moveTo>
                  <a:pt x="0" y="0"/>
                </a:moveTo>
                <a:lnTo>
                  <a:pt x="4928490" y="0"/>
                </a:lnTo>
                <a:lnTo>
                  <a:pt x="4928490" y="5204539"/>
                </a:lnTo>
                <a:lnTo>
                  <a:pt x="0" y="52045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10800000">
            <a:off x="12233981" y="-732621"/>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5"/>
            <a:stretch>
              <a:fillRect l="0" t="0" r="0" b="0"/>
            </a:stretch>
          </a:blipFill>
        </p:spPr>
      </p:sp>
      <p:grpSp>
        <p:nvGrpSpPr>
          <p:cNvPr name="Group 10" id="10"/>
          <p:cNvGrpSpPr/>
          <p:nvPr/>
        </p:nvGrpSpPr>
        <p:grpSpPr>
          <a:xfrm rot="0">
            <a:off x="870704" y="7189743"/>
            <a:ext cx="747321" cy="768415"/>
            <a:chOff x="0" y="0"/>
            <a:chExt cx="196825" cy="202381"/>
          </a:xfrm>
        </p:grpSpPr>
        <p:sp>
          <p:nvSpPr>
            <p:cNvPr name="Freeform 11" id="11"/>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2" id="12"/>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626739" y="9010736"/>
            <a:ext cx="626183" cy="566519"/>
            <a:chOff x="0" y="0"/>
            <a:chExt cx="164921" cy="149207"/>
          </a:xfrm>
        </p:grpSpPr>
        <p:sp>
          <p:nvSpPr>
            <p:cNvPr name="Freeform 14" id="14"/>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5" id="15"/>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524133" y="8600077"/>
            <a:ext cx="310192" cy="299142"/>
            <a:chOff x="0" y="0"/>
            <a:chExt cx="81697" cy="78786"/>
          </a:xfrm>
        </p:grpSpPr>
        <p:sp>
          <p:nvSpPr>
            <p:cNvPr name="Freeform 17" id="17"/>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8" id="18"/>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3579665" y="2006683"/>
            <a:ext cx="310192" cy="299142"/>
            <a:chOff x="0" y="0"/>
            <a:chExt cx="81697" cy="78786"/>
          </a:xfrm>
        </p:grpSpPr>
        <p:sp>
          <p:nvSpPr>
            <p:cNvPr name="Freeform 20" id="2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1" id="2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4344007" y="2669282"/>
            <a:ext cx="310192" cy="299142"/>
            <a:chOff x="0" y="0"/>
            <a:chExt cx="81697" cy="78786"/>
          </a:xfrm>
        </p:grpSpPr>
        <p:sp>
          <p:nvSpPr>
            <p:cNvPr name="Freeform 23" id="23"/>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4" id="24"/>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183796" y="1024972"/>
            <a:ext cx="12566730" cy="8233328"/>
            <a:chOff x="0" y="0"/>
            <a:chExt cx="3309756" cy="2168449"/>
          </a:xfrm>
        </p:grpSpPr>
        <p:sp>
          <p:nvSpPr>
            <p:cNvPr name="Freeform 4" id="4"/>
            <p:cNvSpPr/>
            <p:nvPr/>
          </p:nvSpPr>
          <p:spPr>
            <a:xfrm flipH="false" flipV="false" rot="0">
              <a:off x="0" y="0"/>
              <a:ext cx="3309756" cy="2168449"/>
            </a:xfrm>
            <a:custGeom>
              <a:avLst/>
              <a:gdLst/>
              <a:ahLst/>
              <a:cxnLst/>
              <a:rect r="r" b="b" t="t" l="l"/>
              <a:pathLst>
                <a:path h="2168449" w="3309756">
                  <a:moveTo>
                    <a:pt x="0" y="0"/>
                  </a:moveTo>
                  <a:lnTo>
                    <a:pt x="3309756" y="0"/>
                  </a:lnTo>
                  <a:lnTo>
                    <a:pt x="3309756" y="2168449"/>
                  </a:lnTo>
                  <a:lnTo>
                    <a:pt x="0" y="2168449"/>
                  </a:lnTo>
                  <a:close/>
                </a:path>
              </a:pathLst>
            </a:custGeom>
            <a:solidFill>
              <a:srgbClr val="FFFFFF">
                <a:alpha val="10980"/>
              </a:srgbClr>
            </a:solidFill>
          </p:spPr>
        </p:sp>
        <p:sp>
          <p:nvSpPr>
            <p:cNvPr name="TextBox 5" id="5"/>
            <p:cNvSpPr txBox="true"/>
            <p:nvPr/>
          </p:nvSpPr>
          <p:spPr>
            <a:xfrm>
              <a:off x="0" y="-47625"/>
              <a:ext cx="3309756" cy="2216074"/>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810448" y="1800978"/>
            <a:ext cx="9813147" cy="870602"/>
          </a:xfrm>
          <a:prstGeom prst="rect">
            <a:avLst/>
          </a:prstGeom>
        </p:spPr>
        <p:txBody>
          <a:bodyPr anchor="t" rtlCol="false" tIns="0" lIns="0" bIns="0" rIns="0">
            <a:spAutoFit/>
          </a:bodyPr>
          <a:lstStyle/>
          <a:p>
            <a:pPr algn="l"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Ro</a:t>
            </a:r>
            <a:r>
              <a:rPr lang="en-US" sz="5099" strike="noStrike" u="none">
                <a:solidFill>
                  <a:srgbClr val="FFFFFF"/>
                </a:solidFill>
                <a:latin typeface="Architype Van Der Leck"/>
                <a:ea typeface="Architype Van Der Leck"/>
                <a:cs typeface="Architype Van Der Leck"/>
                <a:sym typeface="Architype Van Der Leck"/>
              </a:rPr>
              <a:t>les of a DBMS:</a:t>
            </a:r>
          </a:p>
        </p:txBody>
      </p:sp>
      <p:sp>
        <p:nvSpPr>
          <p:cNvPr name="TextBox 7" id="7"/>
          <p:cNvSpPr txBox="true"/>
          <p:nvPr/>
        </p:nvSpPr>
        <p:spPr>
          <a:xfrm rot="0">
            <a:off x="2082180" y="2723346"/>
            <a:ext cx="10769961" cy="5229226"/>
          </a:xfrm>
          <a:prstGeom prst="rect">
            <a:avLst/>
          </a:prstGeom>
        </p:spPr>
        <p:txBody>
          <a:bodyPr anchor="t" rtlCol="false" tIns="0" lIns="0" bIns="0" rIns="0">
            <a:spAutoFit/>
          </a:bodyPr>
          <a:lstStyle/>
          <a:p>
            <a:pPr algn="ctr">
              <a:lnSpc>
                <a:spcPts val="4199"/>
              </a:lnSpc>
            </a:pPr>
          </a:p>
          <a:p>
            <a:pPr algn="ctr">
              <a:lnSpc>
                <a:spcPts val="4199"/>
              </a:lnSpc>
            </a:pPr>
            <a:r>
              <a:rPr lang="en-US" sz="2999">
                <a:solidFill>
                  <a:srgbClr val="FFFFFF"/>
                </a:solidFill>
                <a:latin typeface="Tomorrow"/>
                <a:ea typeface="Tomorrow"/>
                <a:cs typeface="Tomorrow"/>
                <a:sym typeface="Tomorrow"/>
              </a:rPr>
              <a:t>Data storage and retrieval</a:t>
            </a:r>
          </a:p>
          <a:p>
            <a:pPr algn="ctr">
              <a:lnSpc>
                <a:spcPts val="4199"/>
              </a:lnSpc>
            </a:pPr>
          </a:p>
          <a:p>
            <a:pPr algn="ctr">
              <a:lnSpc>
                <a:spcPts val="4199"/>
              </a:lnSpc>
            </a:pPr>
            <a:r>
              <a:rPr lang="en-US" sz="2999">
                <a:solidFill>
                  <a:srgbClr val="FFFFFF"/>
                </a:solidFill>
                <a:latin typeface="Tomorrow"/>
                <a:ea typeface="Tomorrow"/>
                <a:cs typeface="Tomorrow"/>
                <a:sym typeface="Tomorrow"/>
              </a:rPr>
              <a:t>Security and access control</a:t>
            </a:r>
          </a:p>
          <a:p>
            <a:pPr algn="ctr">
              <a:lnSpc>
                <a:spcPts val="4199"/>
              </a:lnSpc>
            </a:pPr>
          </a:p>
          <a:p>
            <a:pPr algn="ctr">
              <a:lnSpc>
                <a:spcPts val="4199"/>
              </a:lnSpc>
            </a:pPr>
            <a:r>
              <a:rPr lang="en-US" sz="2999">
                <a:solidFill>
                  <a:srgbClr val="FFFFFF"/>
                </a:solidFill>
                <a:latin typeface="Tomorrow"/>
                <a:ea typeface="Tomorrow"/>
                <a:cs typeface="Tomorrow"/>
                <a:sym typeface="Tomorrow"/>
              </a:rPr>
              <a:t>Backup and recovery    Data</a:t>
            </a:r>
          </a:p>
          <a:p>
            <a:pPr algn="ctr">
              <a:lnSpc>
                <a:spcPts val="4199"/>
              </a:lnSpc>
            </a:pPr>
          </a:p>
          <a:p>
            <a:pPr algn="ctr">
              <a:lnSpc>
                <a:spcPts val="4199"/>
              </a:lnSpc>
            </a:pPr>
            <a:r>
              <a:rPr lang="en-US" sz="2999">
                <a:solidFill>
                  <a:srgbClr val="FFFFFF"/>
                </a:solidFill>
                <a:latin typeface="Tomorrow"/>
                <a:ea typeface="Tomorrow"/>
                <a:cs typeface="Tomorrow"/>
                <a:sym typeface="Tomorrow"/>
              </a:rPr>
              <a:t>integrity enforcement</a:t>
            </a:r>
          </a:p>
          <a:p>
            <a:pPr algn="ctr">
              <a:lnSpc>
                <a:spcPts val="4199"/>
              </a:lnSpc>
            </a:pPr>
          </a:p>
          <a:p>
            <a:pPr algn="ctr">
              <a:lnSpc>
                <a:spcPts val="4199"/>
              </a:lnSpc>
            </a:pPr>
            <a:r>
              <a:rPr lang="en-US" b="true" sz="2999">
                <a:solidFill>
                  <a:srgbClr val="FFFFFF"/>
                </a:solidFill>
                <a:latin typeface="Tomorrow Bold"/>
                <a:ea typeface="Tomorrow Bold"/>
                <a:cs typeface="Tomorrow Bold"/>
                <a:sym typeface="Tomorrow Bold"/>
              </a:rPr>
              <a:t>Popular DBMS: MySQL, PostgreSQL, Oracle, MongoDB</a:t>
            </a:r>
          </a:p>
        </p:txBody>
      </p:sp>
      <p:sp>
        <p:nvSpPr>
          <p:cNvPr name="Freeform 8" id="8"/>
          <p:cNvSpPr/>
          <p:nvPr/>
        </p:nvSpPr>
        <p:spPr>
          <a:xfrm flipH="false" flipV="false" rot="0">
            <a:off x="12580409" y="4053761"/>
            <a:ext cx="4928490" cy="5204539"/>
          </a:xfrm>
          <a:custGeom>
            <a:avLst/>
            <a:gdLst/>
            <a:ahLst/>
            <a:cxnLst/>
            <a:rect r="r" b="b" t="t" l="l"/>
            <a:pathLst>
              <a:path h="5204539" w="4928490">
                <a:moveTo>
                  <a:pt x="0" y="0"/>
                </a:moveTo>
                <a:lnTo>
                  <a:pt x="4928490" y="0"/>
                </a:lnTo>
                <a:lnTo>
                  <a:pt x="4928490" y="5204539"/>
                </a:lnTo>
                <a:lnTo>
                  <a:pt x="0" y="520453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10800000">
            <a:off x="12233981" y="-732621"/>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5"/>
            <a:stretch>
              <a:fillRect l="0" t="0" r="0" b="0"/>
            </a:stretch>
          </a:blipFill>
        </p:spPr>
      </p:sp>
      <p:grpSp>
        <p:nvGrpSpPr>
          <p:cNvPr name="Group 10" id="10"/>
          <p:cNvGrpSpPr/>
          <p:nvPr/>
        </p:nvGrpSpPr>
        <p:grpSpPr>
          <a:xfrm rot="0">
            <a:off x="870704" y="7189743"/>
            <a:ext cx="747321" cy="768415"/>
            <a:chOff x="0" y="0"/>
            <a:chExt cx="196825" cy="202381"/>
          </a:xfrm>
        </p:grpSpPr>
        <p:sp>
          <p:nvSpPr>
            <p:cNvPr name="Freeform 11" id="11"/>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2" id="12"/>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626739" y="9010736"/>
            <a:ext cx="626183" cy="566519"/>
            <a:chOff x="0" y="0"/>
            <a:chExt cx="164921" cy="149207"/>
          </a:xfrm>
        </p:grpSpPr>
        <p:sp>
          <p:nvSpPr>
            <p:cNvPr name="Freeform 14" id="14"/>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5" id="15"/>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524133" y="8600077"/>
            <a:ext cx="310192" cy="299142"/>
            <a:chOff x="0" y="0"/>
            <a:chExt cx="81697" cy="78786"/>
          </a:xfrm>
        </p:grpSpPr>
        <p:sp>
          <p:nvSpPr>
            <p:cNvPr name="Freeform 17" id="17"/>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8" id="18"/>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3579665" y="2006683"/>
            <a:ext cx="310192" cy="299142"/>
            <a:chOff x="0" y="0"/>
            <a:chExt cx="81697" cy="78786"/>
          </a:xfrm>
        </p:grpSpPr>
        <p:sp>
          <p:nvSpPr>
            <p:cNvPr name="Freeform 20" id="2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1" id="2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4344007" y="2669282"/>
            <a:ext cx="310192" cy="299142"/>
            <a:chOff x="0" y="0"/>
            <a:chExt cx="81697" cy="78786"/>
          </a:xfrm>
        </p:grpSpPr>
        <p:sp>
          <p:nvSpPr>
            <p:cNvPr name="Freeform 23" id="23"/>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4" id="24"/>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139251" y="1490163"/>
            <a:ext cx="13854403" cy="7306675"/>
            <a:chOff x="0" y="0"/>
            <a:chExt cx="3648896" cy="1924392"/>
          </a:xfrm>
        </p:grpSpPr>
        <p:sp>
          <p:nvSpPr>
            <p:cNvPr name="Freeform 4" id="4"/>
            <p:cNvSpPr/>
            <p:nvPr/>
          </p:nvSpPr>
          <p:spPr>
            <a:xfrm flipH="false" flipV="false" rot="0">
              <a:off x="0" y="0"/>
              <a:ext cx="3648896" cy="1924392"/>
            </a:xfrm>
            <a:custGeom>
              <a:avLst/>
              <a:gdLst/>
              <a:ahLst/>
              <a:cxnLst/>
              <a:rect r="r" b="b" t="t" l="l"/>
              <a:pathLst>
                <a:path h="1924392" w="3648896">
                  <a:moveTo>
                    <a:pt x="0" y="0"/>
                  </a:moveTo>
                  <a:lnTo>
                    <a:pt x="3648896" y="0"/>
                  </a:lnTo>
                  <a:lnTo>
                    <a:pt x="3648896" y="1924392"/>
                  </a:lnTo>
                  <a:lnTo>
                    <a:pt x="0" y="1924392"/>
                  </a:lnTo>
                  <a:close/>
                </a:path>
              </a:pathLst>
            </a:custGeom>
            <a:solidFill>
              <a:srgbClr val="FFFFFF">
                <a:alpha val="10980"/>
              </a:srgbClr>
            </a:solidFill>
          </p:spPr>
        </p:sp>
        <p:sp>
          <p:nvSpPr>
            <p:cNvPr name="TextBox 5" id="5"/>
            <p:cNvSpPr txBox="true"/>
            <p:nvPr/>
          </p:nvSpPr>
          <p:spPr>
            <a:xfrm>
              <a:off x="0" y="-47625"/>
              <a:ext cx="3648896" cy="197201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2899" y="6213284"/>
            <a:ext cx="3313774" cy="3701917"/>
          </a:xfrm>
          <a:custGeom>
            <a:avLst/>
            <a:gdLst/>
            <a:ahLst/>
            <a:cxnLst/>
            <a:rect r="r" b="b" t="t" l="l"/>
            <a:pathLst>
              <a:path h="3701917" w="3313774">
                <a:moveTo>
                  <a:pt x="0" y="0"/>
                </a:moveTo>
                <a:lnTo>
                  <a:pt x="3313773" y="0"/>
                </a:lnTo>
                <a:lnTo>
                  <a:pt x="3313773" y="3701917"/>
                </a:lnTo>
                <a:lnTo>
                  <a:pt x="0" y="37019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4296979" y="1628594"/>
            <a:ext cx="9694043" cy="1775477"/>
          </a:xfrm>
          <a:prstGeom prst="rect">
            <a:avLst/>
          </a:prstGeom>
        </p:spPr>
        <p:txBody>
          <a:bodyPr anchor="t" rtlCol="false" tIns="0" lIns="0" bIns="0" rIns="0">
            <a:spAutoFit/>
          </a:bodyPr>
          <a:lstStyle/>
          <a:p>
            <a:pPr algn="ctr"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SQL:</a:t>
            </a:r>
            <a:r>
              <a:rPr lang="en-US" sz="5099" strike="noStrike" u="none">
                <a:solidFill>
                  <a:srgbClr val="FFFFFF"/>
                </a:solidFill>
                <a:latin typeface="Architype Van Der Leck"/>
                <a:ea typeface="Architype Van Der Leck"/>
                <a:cs typeface="Architype Van Der Leck"/>
                <a:sym typeface="Architype Van Der Leck"/>
              </a:rPr>
              <a:t> The Language of Databases</a:t>
            </a:r>
          </a:p>
        </p:txBody>
      </p:sp>
      <p:grpSp>
        <p:nvGrpSpPr>
          <p:cNvPr name="Group 8" id="8"/>
          <p:cNvGrpSpPr/>
          <p:nvPr/>
        </p:nvGrpSpPr>
        <p:grpSpPr>
          <a:xfrm rot="0">
            <a:off x="15619993" y="2805531"/>
            <a:ext cx="747321" cy="768415"/>
            <a:chOff x="0" y="0"/>
            <a:chExt cx="196825" cy="202381"/>
          </a:xfrm>
        </p:grpSpPr>
        <p:sp>
          <p:nvSpPr>
            <p:cNvPr name="Freeform 9" id="9"/>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0" id="10"/>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633117" y="3873847"/>
            <a:ext cx="626183" cy="566519"/>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5386233" y="4128597"/>
            <a:ext cx="310192" cy="299142"/>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689900" y="2264816"/>
            <a:ext cx="310192" cy="299142"/>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2139251" y="3040167"/>
            <a:ext cx="310192" cy="299142"/>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183796" y="2890596"/>
            <a:ext cx="310192" cy="299142"/>
            <a:chOff x="0" y="0"/>
            <a:chExt cx="81697" cy="78786"/>
          </a:xfrm>
        </p:grpSpPr>
        <p:sp>
          <p:nvSpPr>
            <p:cNvPr name="Freeform 24" id="24"/>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5" id="25"/>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6" id="26"/>
          <p:cNvSpPr/>
          <p:nvPr/>
        </p:nvSpPr>
        <p:spPr>
          <a:xfrm flipH="true" flipV="false" rot="0">
            <a:off x="12233981" y="7084097"/>
            <a:ext cx="6304504" cy="3522642"/>
          </a:xfrm>
          <a:custGeom>
            <a:avLst/>
            <a:gdLst/>
            <a:ahLst/>
            <a:cxnLst/>
            <a:rect r="r" b="b" t="t" l="l"/>
            <a:pathLst>
              <a:path h="3522642" w="6304504">
                <a:moveTo>
                  <a:pt x="6304504" y="0"/>
                </a:moveTo>
                <a:lnTo>
                  <a:pt x="0" y="0"/>
                </a:lnTo>
                <a:lnTo>
                  <a:pt x="0" y="3522641"/>
                </a:lnTo>
                <a:lnTo>
                  <a:pt x="6304504" y="3522641"/>
                </a:lnTo>
                <a:lnTo>
                  <a:pt x="6304504" y="0"/>
                </a:lnTo>
                <a:close/>
              </a:path>
            </a:pathLst>
          </a:custGeom>
          <a:blipFill>
            <a:blip r:embed="rId5"/>
            <a:stretch>
              <a:fillRect l="0" t="0" r="0" b="0"/>
            </a:stretch>
          </a:blipFill>
        </p:spPr>
      </p:sp>
      <p:sp>
        <p:nvSpPr>
          <p:cNvPr name="TextBox 27" id="27"/>
          <p:cNvSpPr txBox="true"/>
          <p:nvPr/>
        </p:nvSpPr>
        <p:spPr>
          <a:xfrm rot="0">
            <a:off x="2829919" y="3507271"/>
            <a:ext cx="12473066" cy="4556971"/>
          </a:xfrm>
          <a:prstGeom prst="rect">
            <a:avLst/>
          </a:prstGeom>
        </p:spPr>
        <p:txBody>
          <a:bodyPr anchor="t" rtlCol="false" tIns="0" lIns="0" bIns="0" rIns="0">
            <a:spAutoFit/>
          </a:bodyPr>
          <a:lstStyle/>
          <a:p>
            <a:pPr algn="just">
              <a:lnSpc>
                <a:spcPts val="4503"/>
              </a:lnSpc>
              <a:spcBef>
                <a:spcPct val="0"/>
              </a:spcBef>
            </a:pPr>
            <a:r>
              <a:rPr lang="en-US" sz="3216">
                <a:solidFill>
                  <a:srgbClr val="FFFFFF"/>
                </a:solidFill>
                <a:latin typeface="Tomorrow"/>
                <a:ea typeface="Tomorrow"/>
                <a:cs typeface="Tomorrow"/>
                <a:sym typeface="Tomorrow"/>
              </a:rPr>
              <a:t>SQL (Structured Query Language) is the standard language used to interact with most relational databases. It allows users to perform a wide range of tasks—from retrieving and updating data to managing database structures. SQL is essential for anyone working with data, as it provides a clear and powerful way to communicate with the database. In this section, we’ll cover some of the most common SQL commands and how they are used to handle data and relationships between tables.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2139251" y="1490163"/>
            <a:ext cx="13854403" cy="7306675"/>
            <a:chOff x="0" y="0"/>
            <a:chExt cx="3648896" cy="1924392"/>
          </a:xfrm>
        </p:grpSpPr>
        <p:sp>
          <p:nvSpPr>
            <p:cNvPr name="Freeform 4" id="4"/>
            <p:cNvSpPr/>
            <p:nvPr/>
          </p:nvSpPr>
          <p:spPr>
            <a:xfrm flipH="false" flipV="false" rot="0">
              <a:off x="0" y="0"/>
              <a:ext cx="3648896" cy="1924392"/>
            </a:xfrm>
            <a:custGeom>
              <a:avLst/>
              <a:gdLst/>
              <a:ahLst/>
              <a:cxnLst/>
              <a:rect r="r" b="b" t="t" l="l"/>
              <a:pathLst>
                <a:path h="1924392" w="3648896">
                  <a:moveTo>
                    <a:pt x="0" y="0"/>
                  </a:moveTo>
                  <a:lnTo>
                    <a:pt x="3648896" y="0"/>
                  </a:lnTo>
                  <a:lnTo>
                    <a:pt x="3648896" y="1924392"/>
                  </a:lnTo>
                  <a:lnTo>
                    <a:pt x="0" y="1924392"/>
                  </a:lnTo>
                  <a:close/>
                </a:path>
              </a:pathLst>
            </a:custGeom>
            <a:solidFill>
              <a:srgbClr val="FFFFFF">
                <a:alpha val="10980"/>
              </a:srgbClr>
            </a:solidFill>
          </p:spPr>
        </p:sp>
        <p:sp>
          <p:nvSpPr>
            <p:cNvPr name="TextBox 5" id="5"/>
            <p:cNvSpPr txBox="true"/>
            <p:nvPr/>
          </p:nvSpPr>
          <p:spPr>
            <a:xfrm>
              <a:off x="0" y="-47625"/>
              <a:ext cx="3648896" cy="197201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62899" y="6213284"/>
            <a:ext cx="3313774" cy="3701917"/>
          </a:xfrm>
          <a:custGeom>
            <a:avLst/>
            <a:gdLst/>
            <a:ahLst/>
            <a:cxnLst/>
            <a:rect r="r" b="b" t="t" l="l"/>
            <a:pathLst>
              <a:path h="3701917" w="3313774">
                <a:moveTo>
                  <a:pt x="0" y="0"/>
                </a:moveTo>
                <a:lnTo>
                  <a:pt x="3313773" y="0"/>
                </a:lnTo>
                <a:lnTo>
                  <a:pt x="3313773" y="3701917"/>
                </a:lnTo>
                <a:lnTo>
                  <a:pt x="0" y="37019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150874" y="545774"/>
            <a:ext cx="11089255" cy="870602"/>
          </a:xfrm>
          <a:prstGeom prst="rect">
            <a:avLst/>
          </a:prstGeom>
        </p:spPr>
        <p:txBody>
          <a:bodyPr anchor="t" rtlCol="false" tIns="0" lIns="0" bIns="0" rIns="0">
            <a:spAutoFit/>
          </a:bodyPr>
          <a:lstStyle/>
          <a:p>
            <a:pPr algn="ctr"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Basic SQL</a:t>
            </a:r>
            <a:r>
              <a:rPr lang="en-US" sz="5099" strike="noStrike" u="none">
                <a:solidFill>
                  <a:srgbClr val="FFFFFF"/>
                </a:solidFill>
                <a:latin typeface="Architype Van Der Leck"/>
                <a:ea typeface="Architype Van Der Leck"/>
                <a:cs typeface="Architype Van Der Leck"/>
                <a:sym typeface="Architype Van Der Leck"/>
              </a:rPr>
              <a:t> commands:</a:t>
            </a:r>
          </a:p>
        </p:txBody>
      </p:sp>
      <p:grpSp>
        <p:nvGrpSpPr>
          <p:cNvPr name="Group 8" id="8"/>
          <p:cNvGrpSpPr/>
          <p:nvPr/>
        </p:nvGrpSpPr>
        <p:grpSpPr>
          <a:xfrm rot="0">
            <a:off x="15619993" y="2805531"/>
            <a:ext cx="747321" cy="768415"/>
            <a:chOff x="0" y="0"/>
            <a:chExt cx="196825" cy="202381"/>
          </a:xfrm>
        </p:grpSpPr>
        <p:sp>
          <p:nvSpPr>
            <p:cNvPr name="Freeform 9" id="9"/>
            <p:cNvSpPr/>
            <p:nvPr/>
          </p:nvSpPr>
          <p:spPr>
            <a:xfrm flipH="false" flipV="false" rot="0">
              <a:off x="0" y="0"/>
              <a:ext cx="196825" cy="202381"/>
            </a:xfrm>
            <a:custGeom>
              <a:avLst/>
              <a:gdLst/>
              <a:ahLst/>
              <a:cxnLst/>
              <a:rect r="r" b="b" t="t" l="l"/>
              <a:pathLst>
                <a:path h="202381" w="196825">
                  <a:moveTo>
                    <a:pt x="0" y="0"/>
                  </a:moveTo>
                  <a:lnTo>
                    <a:pt x="196825" y="0"/>
                  </a:lnTo>
                  <a:lnTo>
                    <a:pt x="196825" y="202381"/>
                  </a:lnTo>
                  <a:lnTo>
                    <a:pt x="0" y="202381"/>
                  </a:lnTo>
                  <a:close/>
                </a:path>
              </a:pathLst>
            </a:custGeom>
            <a:solidFill>
              <a:srgbClr val="0054C5"/>
            </a:solidFill>
          </p:spPr>
        </p:sp>
        <p:sp>
          <p:nvSpPr>
            <p:cNvPr name="TextBox 10" id="10"/>
            <p:cNvSpPr txBox="true"/>
            <p:nvPr/>
          </p:nvSpPr>
          <p:spPr>
            <a:xfrm>
              <a:off x="0" y="-47625"/>
              <a:ext cx="196825" cy="25000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6633117" y="3873847"/>
            <a:ext cx="626183" cy="566519"/>
            <a:chOff x="0" y="0"/>
            <a:chExt cx="164921" cy="149207"/>
          </a:xfrm>
        </p:grpSpPr>
        <p:sp>
          <p:nvSpPr>
            <p:cNvPr name="Freeform 12" id="12"/>
            <p:cNvSpPr/>
            <p:nvPr/>
          </p:nvSpPr>
          <p:spPr>
            <a:xfrm flipH="false" flipV="false" rot="0">
              <a:off x="0" y="0"/>
              <a:ext cx="164921" cy="149207"/>
            </a:xfrm>
            <a:custGeom>
              <a:avLst/>
              <a:gdLst/>
              <a:ahLst/>
              <a:cxnLst/>
              <a:rect r="r" b="b" t="t" l="l"/>
              <a:pathLst>
                <a:path h="149207" w="164921">
                  <a:moveTo>
                    <a:pt x="0" y="0"/>
                  </a:moveTo>
                  <a:lnTo>
                    <a:pt x="164921" y="0"/>
                  </a:lnTo>
                  <a:lnTo>
                    <a:pt x="164921" y="149207"/>
                  </a:lnTo>
                  <a:lnTo>
                    <a:pt x="0" y="149207"/>
                  </a:lnTo>
                  <a:close/>
                </a:path>
              </a:pathLst>
            </a:custGeom>
            <a:solidFill>
              <a:srgbClr val="0054C5"/>
            </a:solidFill>
          </p:spPr>
        </p:sp>
        <p:sp>
          <p:nvSpPr>
            <p:cNvPr name="TextBox 13" id="13"/>
            <p:cNvSpPr txBox="true"/>
            <p:nvPr/>
          </p:nvSpPr>
          <p:spPr>
            <a:xfrm>
              <a:off x="0" y="-47625"/>
              <a:ext cx="164921" cy="196832"/>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5386233" y="4128597"/>
            <a:ext cx="310192" cy="299142"/>
            <a:chOff x="0" y="0"/>
            <a:chExt cx="81697" cy="78786"/>
          </a:xfrm>
        </p:grpSpPr>
        <p:sp>
          <p:nvSpPr>
            <p:cNvPr name="Freeform 15" id="15"/>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6" id="16"/>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1689900" y="2264816"/>
            <a:ext cx="310192" cy="299142"/>
            <a:chOff x="0" y="0"/>
            <a:chExt cx="81697" cy="78786"/>
          </a:xfrm>
        </p:grpSpPr>
        <p:sp>
          <p:nvSpPr>
            <p:cNvPr name="Freeform 18" id="18"/>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9" id="19"/>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2139251" y="3040167"/>
            <a:ext cx="310192" cy="299142"/>
            <a:chOff x="0" y="0"/>
            <a:chExt cx="81697" cy="78786"/>
          </a:xfrm>
        </p:grpSpPr>
        <p:sp>
          <p:nvSpPr>
            <p:cNvPr name="Freeform 21" id="21"/>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2" id="22"/>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183796" y="2890596"/>
            <a:ext cx="310192" cy="299142"/>
            <a:chOff x="0" y="0"/>
            <a:chExt cx="81697" cy="78786"/>
          </a:xfrm>
        </p:grpSpPr>
        <p:sp>
          <p:nvSpPr>
            <p:cNvPr name="Freeform 24" id="24"/>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25" id="25"/>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
        <p:nvSpPr>
          <p:cNvPr name="Freeform 26" id="26"/>
          <p:cNvSpPr/>
          <p:nvPr/>
        </p:nvSpPr>
        <p:spPr>
          <a:xfrm flipH="true" flipV="false" rot="0">
            <a:off x="12233981" y="7084097"/>
            <a:ext cx="6304504" cy="3522642"/>
          </a:xfrm>
          <a:custGeom>
            <a:avLst/>
            <a:gdLst/>
            <a:ahLst/>
            <a:cxnLst/>
            <a:rect r="r" b="b" t="t" l="l"/>
            <a:pathLst>
              <a:path h="3522642" w="6304504">
                <a:moveTo>
                  <a:pt x="6304504" y="0"/>
                </a:moveTo>
                <a:lnTo>
                  <a:pt x="0" y="0"/>
                </a:lnTo>
                <a:lnTo>
                  <a:pt x="0" y="3522641"/>
                </a:lnTo>
                <a:lnTo>
                  <a:pt x="6304504" y="3522641"/>
                </a:lnTo>
                <a:lnTo>
                  <a:pt x="6304504" y="0"/>
                </a:lnTo>
                <a:close/>
              </a:path>
            </a:pathLst>
          </a:custGeom>
          <a:blipFill>
            <a:blip r:embed="rId5"/>
            <a:stretch>
              <a:fillRect l="0" t="0" r="0" b="0"/>
            </a:stretch>
          </a:blipFill>
        </p:spPr>
      </p:sp>
      <p:sp>
        <p:nvSpPr>
          <p:cNvPr name="TextBox 27" id="27"/>
          <p:cNvSpPr txBox="true"/>
          <p:nvPr/>
        </p:nvSpPr>
        <p:spPr>
          <a:xfrm rot="0">
            <a:off x="2907467" y="1423488"/>
            <a:ext cx="12473066" cy="6842971"/>
          </a:xfrm>
          <a:prstGeom prst="rect">
            <a:avLst/>
          </a:prstGeom>
        </p:spPr>
        <p:txBody>
          <a:bodyPr anchor="t" rtlCol="false" tIns="0" lIns="0" bIns="0" rIns="0">
            <a:spAutoFit/>
          </a:bodyPr>
          <a:lstStyle/>
          <a:p>
            <a:pPr algn="just">
              <a:lnSpc>
                <a:spcPts val="4503"/>
              </a:lnSpc>
              <a:spcBef>
                <a:spcPct val="0"/>
              </a:spcBef>
            </a:pPr>
          </a:p>
          <a:p>
            <a:pPr algn="just">
              <a:lnSpc>
                <a:spcPts val="4503"/>
              </a:lnSpc>
              <a:spcBef>
                <a:spcPct val="0"/>
              </a:spcBef>
            </a:pPr>
            <a:r>
              <a:rPr lang="en-US" sz="3216">
                <a:solidFill>
                  <a:srgbClr val="FFFFFF"/>
                </a:solidFill>
                <a:latin typeface="Tomorrow"/>
                <a:ea typeface="Tomorrow"/>
                <a:cs typeface="Tomorrow"/>
                <a:sym typeface="Tomorrow"/>
              </a:rPr>
              <a:t>❖</a:t>
            </a:r>
            <a:r>
              <a:rPr lang="en-US" b="true" sz="3216">
                <a:solidFill>
                  <a:srgbClr val="FFFFFF"/>
                </a:solidFill>
                <a:latin typeface="Tomorrow Bold"/>
                <a:ea typeface="Tomorrow Bold"/>
                <a:cs typeface="Tomorrow Bold"/>
                <a:sym typeface="Tomorrow Bold"/>
              </a:rPr>
              <a:t>CREATE:</a:t>
            </a:r>
            <a:r>
              <a:rPr lang="en-US" sz="3216">
                <a:solidFill>
                  <a:srgbClr val="FFFFFF"/>
                </a:solidFill>
                <a:latin typeface="Tomorrow"/>
                <a:ea typeface="Tomorrow"/>
                <a:cs typeface="Tomorrow"/>
                <a:sym typeface="Tomorrow"/>
              </a:rPr>
              <a:t> to create a database and its objects like (table, index, views, store procedure, function and triggers)</a:t>
            </a:r>
          </a:p>
          <a:p>
            <a:pPr algn="just">
              <a:lnSpc>
                <a:spcPts val="4503"/>
              </a:lnSpc>
              <a:spcBef>
                <a:spcPct val="0"/>
              </a:spcBef>
            </a:pPr>
            <a:r>
              <a:rPr lang="en-US" sz="3216">
                <a:solidFill>
                  <a:srgbClr val="FFFFFF"/>
                </a:solidFill>
                <a:latin typeface="Tomorrow"/>
                <a:ea typeface="Tomorrow"/>
                <a:cs typeface="Tomorrow"/>
                <a:sym typeface="Tomorrow"/>
              </a:rPr>
              <a:t>❖</a:t>
            </a:r>
            <a:r>
              <a:rPr lang="en-US" b="true" sz="3216">
                <a:solidFill>
                  <a:srgbClr val="FFFFFF"/>
                </a:solidFill>
                <a:latin typeface="Tomorrow Bold"/>
                <a:ea typeface="Tomorrow Bold"/>
                <a:cs typeface="Tomorrow Bold"/>
                <a:sym typeface="Tomorrow Bold"/>
              </a:rPr>
              <a:t>ALTER</a:t>
            </a:r>
            <a:r>
              <a:rPr lang="en-US" sz="3216">
                <a:solidFill>
                  <a:srgbClr val="FFFFFF"/>
                </a:solidFill>
                <a:latin typeface="Tomorrow"/>
                <a:ea typeface="Tomorrow"/>
                <a:cs typeface="Tomorrow"/>
                <a:sym typeface="Tomorrow"/>
              </a:rPr>
              <a:t>: Alters the structure of the existing database</a:t>
            </a:r>
          </a:p>
          <a:p>
            <a:pPr algn="just">
              <a:lnSpc>
                <a:spcPts val="4503"/>
              </a:lnSpc>
              <a:spcBef>
                <a:spcPct val="0"/>
              </a:spcBef>
            </a:pPr>
            <a:r>
              <a:rPr lang="en-US" sz="3216">
                <a:solidFill>
                  <a:srgbClr val="FFFFFF"/>
                </a:solidFill>
                <a:latin typeface="Tomorrow"/>
                <a:ea typeface="Tomorrow"/>
                <a:cs typeface="Tomorrow"/>
                <a:sym typeface="Tomorrow"/>
              </a:rPr>
              <a:t>❖</a:t>
            </a:r>
            <a:r>
              <a:rPr lang="en-US" b="true" sz="3216">
                <a:solidFill>
                  <a:srgbClr val="FFFFFF"/>
                </a:solidFill>
                <a:latin typeface="Tomorrow Bold"/>
                <a:ea typeface="Tomorrow Bold"/>
                <a:cs typeface="Tomorrow Bold"/>
                <a:sym typeface="Tomorrow Bold"/>
              </a:rPr>
              <a:t>DROP: </a:t>
            </a:r>
            <a:r>
              <a:rPr lang="en-US" sz="3216">
                <a:solidFill>
                  <a:srgbClr val="FFFFFF"/>
                </a:solidFill>
                <a:latin typeface="Tomorrow"/>
                <a:ea typeface="Tomorrow"/>
                <a:cs typeface="Tomorrow"/>
                <a:sym typeface="Tomorrow"/>
              </a:rPr>
              <a:t>Delete all records from a database table</a:t>
            </a:r>
          </a:p>
          <a:p>
            <a:pPr algn="just">
              <a:lnSpc>
                <a:spcPts val="4503"/>
              </a:lnSpc>
              <a:spcBef>
                <a:spcPct val="0"/>
              </a:spcBef>
            </a:pPr>
            <a:r>
              <a:rPr lang="en-US" sz="3216">
                <a:solidFill>
                  <a:srgbClr val="FFFFFF"/>
                </a:solidFill>
                <a:latin typeface="Tomorrow"/>
                <a:ea typeface="Tomorrow"/>
                <a:cs typeface="Tomorrow"/>
                <a:sym typeface="Tomorrow"/>
              </a:rPr>
              <a:t>❖</a:t>
            </a:r>
            <a:r>
              <a:rPr lang="en-US" b="true" sz="3216">
                <a:solidFill>
                  <a:srgbClr val="FFFFFF"/>
                </a:solidFill>
                <a:latin typeface="Tomorrow Bold"/>
                <a:ea typeface="Tomorrow Bold"/>
                <a:cs typeface="Tomorrow Bold"/>
                <a:sym typeface="Tomorrow Bold"/>
              </a:rPr>
              <a:t>JOINS:</a:t>
            </a:r>
            <a:r>
              <a:rPr lang="en-US" sz="3216">
                <a:solidFill>
                  <a:srgbClr val="FFFFFF"/>
                </a:solidFill>
                <a:latin typeface="Tomorrow"/>
                <a:ea typeface="Tomorrow"/>
                <a:cs typeface="Tomorrow"/>
                <a:sym typeface="Tomorrow"/>
              </a:rPr>
              <a:t> Used to combine data from multiple tables based on relationships</a:t>
            </a:r>
          </a:p>
          <a:p>
            <a:pPr algn="just">
              <a:lnSpc>
                <a:spcPts val="4503"/>
              </a:lnSpc>
              <a:spcBef>
                <a:spcPct val="0"/>
              </a:spcBef>
            </a:pPr>
            <a:r>
              <a:rPr lang="en-US" sz="3216">
                <a:solidFill>
                  <a:srgbClr val="FFFFFF"/>
                </a:solidFill>
                <a:latin typeface="Tomorrow"/>
                <a:ea typeface="Tomorrow"/>
                <a:cs typeface="Tomorrow"/>
                <a:sym typeface="Tomorrow"/>
              </a:rPr>
              <a:t>❖</a:t>
            </a:r>
            <a:r>
              <a:rPr lang="en-US" b="true" sz="3216">
                <a:solidFill>
                  <a:srgbClr val="FFFFFF"/>
                </a:solidFill>
                <a:latin typeface="Tomorrow Bold"/>
                <a:ea typeface="Tomorrow Bold"/>
                <a:cs typeface="Tomorrow Bold"/>
                <a:sym typeface="Tomorrow Bold"/>
              </a:rPr>
              <a:t>SELECT:</a:t>
            </a:r>
            <a:r>
              <a:rPr lang="en-US" sz="3216">
                <a:solidFill>
                  <a:srgbClr val="FFFFFF"/>
                </a:solidFill>
                <a:latin typeface="Tomorrow"/>
                <a:ea typeface="Tomorrow"/>
                <a:cs typeface="Tomorrow"/>
                <a:sym typeface="Tomorrow"/>
              </a:rPr>
              <a:t> Retrieves data from a database</a:t>
            </a:r>
          </a:p>
          <a:p>
            <a:pPr algn="just">
              <a:lnSpc>
                <a:spcPts val="4503"/>
              </a:lnSpc>
              <a:spcBef>
                <a:spcPct val="0"/>
              </a:spcBef>
            </a:pPr>
            <a:r>
              <a:rPr lang="en-US" sz="3216">
                <a:solidFill>
                  <a:srgbClr val="FFFFFF"/>
                </a:solidFill>
                <a:latin typeface="Tomorrow"/>
                <a:ea typeface="Tomorrow"/>
                <a:cs typeface="Tomorrow"/>
                <a:sym typeface="Tomorrow"/>
              </a:rPr>
              <a:t>❖</a:t>
            </a:r>
            <a:r>
              <a:rPr lang="en-US" b="true" sz="3216">
                <a:solidFill>
                  <a:srgbClr val="FFFFFF"/>
                </a:solidFill>
                <a:latin typeface="Tomorrow Bold"/>
                <a:ea typeface="Tomorrow Bold"/>
                <a:cs typeface="Tomorrow Bold"/>
                <a:sym typeface="Tomorrow Bold"/>
              </a:rPr>
              <a:t>INSERT:</a:t>
            </a:r>
            <a:r>
              <a:rPr lang="en-US" sz="3216">
                <a:solidFill>
                  <a:srgbClr val="FFFFFF"/>
                </a:solidFill>
                <a:latin typeface="Tomorrow"/>
                <a:ea typeface="Tomorrow"/>
                <a:cs typeface="Tomorrow"/>
                <a:sym typeface="Tomorrow"/>
              </a:rPr>
              <a:t> Adds new data into a table </a:t>
            </a:r>
          </a:p>
          <a:p>
            <a:pPr algn="just">
              <a:lnSpc>
                <a:spcPts val="4503"/>
              </a:lnSpc>
              <a:spcBef>
                <a:spcPct val="0"/>
              </a:spcBef>
            </a:pPr>
            <a:r>
              <a:rPr lang="en-US" sz="3216">
                <a:solidFill>
                  <a:srgbClr val="FFFFFF"/>
                </a:solidFill>
                <a:latin typeface="Tomorrow"/>
                <a:ea typeface="Tomorrow"/>
                <a:cs typeface="Tomorrow"/>
                <a:sym typeface="Tomorrow"/>
              </a:rPr>
              <a:t>❖</a:t>
            </a:r>
            <a:r>
              <a:rPr lang="en-US" b="true" sz="3216">
                <a:solidFill>
                  <a:srgbClr val="FFFFFF"/>
                </a:solidFill>
                <a:latin typeface="Tomorrow Bold"/>
                <a:ea typeface="Tomorrow Bold"/>
                <a:cs typeface="Tomorrow Bold"/>
                <a:sym typeface="Tomorrow Bold"/>
              </a:rPr>
              <a:t>UPDATE:</a:t>
            </a:r>
            <a:r>
              <a:rPr lang="en-US" sz="3216">
                <a:solidFill>
                  <a:srgbClr val="FFFFFF"/>
                </a:solidFill>
                <a:latin typeface="Tomorrow"/>
                <a:ea typeface="Tomorrow"/>
                <a:cs typeface="Tomorrow"/>
                <a:sym typeface="Tomorrow"/>
              </a:rPr>
              <a:t> Modifies existing data within a table</a:t>
            </a:r>
          </a:p>
          <a:p>
            <a:pPr algn="just">
              <a:lnSpc>
                <a:spcPts val="4503"/>
              </a:lnSpc>
              <a:spcBef>
                <a:spcPct val="0"/>
              </a:spcBef>
            </a:pPr>
            <a:r>
              <a:rPr lang="en-US" sz="3216">
                <a:solidFill>
                  <a:srgbClr val="FFFFFF"/>
                </a:solidFill>
                <a:latin typeface="Tomorrow"/>
                <a:ea typeface="Tomorrow"/>
                <a:cs typeface="Tomorrow"/>
                <a:sym typeface="Tomorrow"/>
              </a:rPr>
              <a:t>❖</a:t>
            </a:r>
            <a:r>
              <a:rPr lang="en-US" b="true" sz="3216">
                <a:solidFill>
                  <a:srgbClr val="FFFFFF"/>
                </a:solidFill>
                <a:latin typeface="Tomorrow Bold"/>
                <a:ea typeface="Tomorrow Bold"/>
                <a:cs typeface="Tomorrow Bold"/>
                <a:sym typeface="Tomorrow Bold"/>
              </a:rPr>
              <a:t>DELETE: </a:t>
            </a:r>
            <a:r>
              <a:rPr lang="en-US" sz="3216">
                <a:solidFill>
                  <a:srgbClr val="FFFFFF"/>
                </a:solidFill>
                <a:latin typeface="Tomorrow"/>
                <a:ea typeface="Tomorrow"/>
                <a:cs typeface="Tomorrow"/>
                <a:sym typeface="Tomorrow"/>
              </a:rPr>
              <a:t>Removes data</a:t>
            </a:r>
          </a:p>
          <a:p>
            <a:pPr algn="just">
              <a:lnSpc>
                <a:spcPts val="4503"/>
              </a:lnSpc>
              <a:spcBef>
                <a:spcPct val="0"/>
              </a:spcBef>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1534322" y="2294499"/>
            <a:ext cx="15128726" cy="7306675"/>
            <a:chOff x="0" y="0"/>
            <a:chExt cx="3984520" cy="1924392"/>
          </a:xfrm>
        </p:grpSpPr>
        <p:sp>
          <p:nvSpPr>
            <p:cNvPr name="Freeform 4" id="4"/>
            <p:cNvSpPr/>
            <p:nvPr/>
          </p:nvSpPr>
          <p:spPr>
            <a:xfrm flipH="false" flipV="false" rot="0">
              <a:off x="0" y="0"/>
              <a:ext cx="3984520" cy="1924392"/>
            </a:xfrm>
            <a:custGeom>
              <a:avLst/>
              <a:gdLst/>
              <a:ahLst/>
              <a:cxnLst/>
              <a:rect r="r" b="b" t="t" l="l"/>
              <a:pathLst>
                <a:path h="1924392" w="3984520">
                  <a:moveTo>
                    <a:pt x="0" y="0"/>
                  </a:moveTo>
                  <a:lnTo>
                    <a:pt x="3984520" y="0"/>
                  </a:lnTo>
                  <a:lnTo>
                    <a:pt x="3984520" y="1924392"/>
                  </a:lnTo>
                  <a:lnTo>
                    <a:pt x="0" y="1924392"/>
                  </a:lnTo>
                  <a:close/>
                </a:path>
              </a:pathLst>
            </a:custGeom>
            <a:solidFill>
              <a:srgbClr val="FFFFFF">
                <a:alpha val="10980"/>
              </a:srgbClr>
            </a:solidFill>
          </p:spPr>
        </p:sp>
        <p:sp>
          <p:nvSpPr>
            <p:cNvPr name="TextBox 5" id="5"/>
            <p:cNvSpPr txBox="true"/>
            <p:nvPr/>
          </p:nvSpPr>
          <p:spPr>
            <a:xfrm>
              <a:off x="0" y="-47625"/>
              <a:ext cx="3984520" cy="1972017"/>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false" rot="-10800000">
            <a:off x="-665027" y="-732621"/>
            <a:ext cx="6304504" cy="3522642"/>
          </a:xfrm>
          <a:custGeom>
            <a:avLst/>
            <a:gdLst/>
            <a:ahLst/>
            <a:cxnLst/>
            <a:rect r="r" b="b" t="t" l="l"/>
            <a:pathLst>
              <a:path h="3522642" w="6304504">
                <a:moveTo>
                  <a:pt x="6304504" y="0"/>
                </a:moveTo>
                <a:lnTo>
                  <a:pt x="0" y="0"/>
                </a:lnTo>
                <a:lnTo>
                  <a:pt x="0" y="3522642"/>
                </a:lnTo>
                <a:lnTo>
                  <a:pt x="6304504" y="3522642"/>
                </a:lnTo>
                <a:lnTo>
                  <a:pt x="6304504" y="0"/>
                </a:lnTo>
                <a:close/>
              </a:path>
            </a:pathLst>
          </a:custGeom>
          <a:blipFill>
            <a:blip r:embed="rId3"/>
            <a:stretch>
              <a:fillRect l="0" t="0" r="0" b="0"/>
            </a:stretch>
          </a:blipFill>
        </p:spPr>
      </p:sp>
      <p:sp>
        <p:nvSpPr>
          <p:cNvPr name="TextBox 7" id="7"/>
          <p:cNvSpPr txBox="true"/>
          <p:nvPr/>
        </p:nvSpPr>
        <p:spPr>
          <a:xfrm rot="0">
            <a:off x="3819435" y="338942"/>
            <a:ext cx="10649129" cy="1775477"/>
          </a:xfrm>
          <a:prstGeom prst="rect">
            <a:avLst/>
          </a:prstGeom>
        </p:spPr>
        <p:txBody>
          <a:bodyPr anchor="t" rtlCol="false" tIns="0" lIns="0" bIns="0" rIns="0">
            <a:spAutoFit/>
          </a:bodyPr>
          <a:lstStyle/>
          <a:p>
            <a:pPr algn="ctr" marL="0" indent="0" lvl="0">
              <a:lnSpc>
                <a:spcPts val="7139"/>
              </a:lnSpc>
              <a:spcBef>
                <a:spcPct val="0"/>
              </a:spcBef>
            </a:pPr>
            <a:r>
              <a:rPr lang="en-US" sz="5099">
                <a:solidFill>
                  <a:srgbClr val="FFFFFF"/>
                </a:solidFill>
                <a:latin typeface="Architype Van Der Leck"/>
                <a:ea typeface="Architype Van Der Leck"/>
                <a:cs typeface="Architype Van Der Leck"/>
                <a:sym typeface="Architype Van Der Leck"/>
              </a:rPr>
              <a:t>Theoretical background</a:t>
            </a:r>
          </a:p>
        </p:txBody>
      </p:sp>
      <p:sp>
        <p:nvSpPr>
          <p:cNvPr name="TextBox 8" id="8"/>
          <p:cNvSpPr txBox="true"/>
          <p:nvPr/>
        </p:nvSpPr>
        <p:spPr>
          <a:xfrm rot="0">
            <a:off x="1847645" y="2713821"/>
            <a:ext cx="14540602" cy="7128408"/>
          </a:xfrm>
          <a:prstGeom prst="rect">
            <a:avLst/>
          </a:prstGeom>
        </p:spPr>
        <p:txBody>
          <a:bodyPr anchor="t" rtlCol="false" tIns="0" lIns="0" bIns="0" rIns="0">
            <a:spAutoFit/>
          </a:bodyPr>
          <a:lstStyle/>
          <a:p>
            <a:pPr algn="just">
              <a:lnSpc>
                <a:spcPts val="5141"/>
              </a:lnSpc>
            </a:pPr>
            <a:r>
              <a:rPr lang="en-US" sz="3672">
                <a:solidFill>
                  <a:srgbClr val="FFFFFF"/>
                </a:solidFill>
                <a:latin typeface="Tomorrow"/>
                <a:ea typeface="Tomorrow"/>
                <a:cs typeface="Tomorrow"/>
                <a:sym typeface="Tomorrow"/>
              </a:rPr>
              <a:t> This framework integrates these theories to explain how databases handle data integrity, query efficiency, and scalability. It positions databases as a bridge between raw data and actionable insights, emphasizing their role in fields like business intelligence, AI, and cloud computing. This article aims to discuss and understand databases thus, this is related to the Relational Model Theory by Dr. Edgar F. Codd (1970). Databases evolved as a response to the need for organized data storage in the digital era. The theoretical foundations began with early file systems in the 1960s and matured with the relational model in the 1970s.</a:t>
            </a:r>
          </a:p>
          <a:p>
            <a:pPr algn="just">
              <a:lnSpc>
                <a:spcPts val="5141"/>
              </a:lnSpc>
            </a:pPr>
          </a:p>
        </p:txBody>
      </p:sp>
      <p:grpSp>
        <p:nvGrpSpPr>
          <p:cNvPr name="Group 9" id="9"/>
          <p:cNvGrpSpPr/>
          <p:nvPr/>
        </p:nvGrpSpPr>
        <p:grpSpPr>
          <a:xfrm rot="-5400000">
            <a:off x="17116823" y="7881739"/>
            <a:ext cx="284953" cy="274803"/>
            <a:chOff x="0" y="0"/>
            <a:chExt cx="81697" cy="78786"/>
          </a:xfrm>
        </p:grpSpPr>
        <p:sp>
          <p:nvSpPr>
            <p:cNvPr name="Freeform 10" id="10"/>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1" id="11"/>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5400000">
            <a:off x="16383171" y="8506938"/>
            <a:ext cx="284953" cy="274803"/>
            <a:chOff x="0" y="0"/>
            <a:chExt cx="81697" cy="78786"/>
          </a:xfrm>
        </p:grpSpPr>
        <p:sp>
          <p:nvSpPr>
            <p:cNvPr name="Freeform 13" id="13"/>
            <p:cNvSpPr/>
            <p:nvPr/>
          </p:nvSpPr>
          <p:spPr>
            <a:xfrm flipH="false" flipV="false" rot="0">
              <a:off x="0" y="0"/>
              <a:ext cx="81697" cy="78786"/>
            </a:xfrm>
            <a:custGeom>
              <a:avLst/>
              <a:gdLst/>
              <a:ahLst/>
              <a:cxnLst/>
              <a:rect r="r" b="b" t="t" l="l"/>
              <a:pathLst>
                <a:path h="78786" w="81697">
                  <a:moveTo>
                    <a:pt x="0" y="0"/>
                  </a:moveTo>
                  <a:lnTo>
                    <a:pt x="81697" y="0"/>
                  </a:lnTo>
                  <a:lnTo>
                    <a:pt x="81697" y="78786"/>
                  </a:lnTo>
                  <a:lnTo>
                    <a:pt x="0" y="78786"/>
                  </a:lnTo>
                  <a:close/>
                </a:path>
              </a:pathLst>
            </a:custGeom>
            <a:solidFill>
              <a:srgbClr val="0054C5"/>
            </a:solidFill>
          </p:spPr>
        </p:sp>
        <p:sp>
          <p:nvSpPr>
            <p:cNvPr name="TextBox 14" id="14"/>
            <p:cNvSpPr txBox="true"/>
            <p:nvPr/>
          </p:nvSpPr>
          <p:spPr>
            <a:xfrm>
              <a:off x="0" y="-47625"/>
              <a:ext cx="81697" cy="126411"/>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7805919" y="1971696"/>
            <a:ext cx="9180974" cy="6862652"/>
            <a:chOff x="0" y="0"/>
            <a:chExt cx="2418034" cy="1807448"/>
          </a:xfrm>
        </p:grpSpPr>
        <p:sp>
          <p:nvSpPr>
            <p:cNvPr name="Freeform 4" id="4"/>
            <p:cNvSpPr/>
            <p:nvPr/>
          </p:nvSpPr>
          <p:spPr>
            <a:xfrm flipH="false" flipV="false" rot="0">
              <a:off x="0" y="0"/>
              <a:ext cx="2418034" cy="1807448"/>
            </a:xfrm>
            <a:custGeom>
              <a:avLst/>
              <a:gdLst/>
              <a:ahLst/>
              <a:cxnLst/>
              <a:rect r="r" b="b" t="t" l="l"/>
              <a:pathLst>
                <a:path h="1807448" w="2418034">
                  <a:moveTo>
                    <a:pt x="0" y="0"/>
                  </a:moveTo>
                  <a:lnTo>
                    <a:pt x="2418034" y="0"/>
                  </a:lnTo>
                  <a:lnTo>
                    <a:pt x="2418034" y="1807448"/>
                  </a:lnTo>
                  <a:lnTo>
                    <a:pt x="0" y="1807448"/>
                  </a:lnTo>
                  <a:close/>
                </a:path>
              </a:pathLst>
            </a:custGeom>
            <a:solidFill>
              <a:srgbClr val="FFFFFF">
                <a:alpha val="10980"/>
              </a:srgbClr>
            </a:solidFill>
          </p:spPr>
        </p:sp>
        <p:sp>
          <p:nvSpPr>
            <p:cNvPr name="TextBox 5" id="5"/>
            <p:cNvSpPr txBox="true"/>
            <p:nvPr/>
          </p:nvSpPr>
          <p:spPr>
            <a:xfrm>
              <a:off x="0" y="-47625"/>
              <a:ext cx="2418034" cy="185507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35779" y="7073027"/>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sp>
        <p:nvSpPr>
          <p:cNvPr name="Freeform 7" id="7"/>
          <p:cNvSpPr/>
          <p:nvPr/>
        </p:nvSpPr>
        <p:spPr>
          <a:xfrm flipH="false" flipV="false" rot="0">
            <a:off x="1633596" y="3245184"/>
            <a:ext cx="5273292" cy="4704316"/>
          </a:xfrm>
          <a:custGeom>
            <a:avLst/>
            <a:gdLst/>
            <a:ahLst/>
            <a:cxnLst/>
            <a:rect r="r" b="b" t="t" l="l"/>
            <a:pathLst>
              <a:path h="4704316" w="5273292">
                <a:moveTo>
                  <a:pt x="0" y="0"/>
                </a:moveTo>
                <a:lnTo>
                  <a:pt x="5273292" y="0"/>
                </a:lnTo>
                <a:lnTo>
                  <a:pt x="5273292" y="4704316"/>
                </a:lnTo>
                <a:lnTo>
                  <a:pt x="0" y="47043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5400000">
            <a:off x="16721788" y="7136129"/>
            <a:ext cx="544528" cy="530497"/>
            <a:chOff x="0" y="0"/>
            <a:chExt cx="156117" cy="152094"/>
          </a:xfrm>
        </p:grpSpPr>
        <p:sp>
          <p:nvSpPr>
            <p:cNvPr name="Freeform 9" id="9"/>
            <p:cNvSpPr/>
            <p:nvPr/>
          </p:nvSpPr>
          <p:spPr>
            <a:xfrm flipH="false" flipV="false" rot="0">
              <a:off x="0" y="0"/>
              <a:ext cx="156117" cy="152094"/>
            </a:xfrm>
            <a:custGeom>
              <a:avLst/>
              <a:gdLst/>
              <a:ahLst/>
              <a:cxnLst/>
              <a:rect r="r" b="b" t="t" l="l"/>
              <a:pathLst>
                <a:path h="152094" w="156117">
                  <a:moveTo>
                    <a:pt x="0" y="0"/>
                  </a:moveTo>
                  <a:lnTo>
                    <a:pt x="156117" y="0"/>
                  </a:lnTo>
                  <a:lnTo>
                    <a:pt x="156117" y="152094"/>
                  </a:lnTo>
                  <a:lnTo>
                    <a:pt x="0" y="152094"/>
                  </a:lnTo>
                  <a:close/>
                </a:path>
              </a:pathLst>
            </a:custGeom>
            <a:solidFill>
              <a:srgbClr val="0054C5"/>
            </a:solidFill>
          </p:spPr>
        </p:sp>
        <p:sp>
          <p:nvSpPr>
            <p:cNvPr name="TextBox 10" id="10"/>
            <p:cNvSpPr txBox="true"/>
            <p:nvPr/>
          </p:nvSpPr>
          <p:spPr>
            <a:xfrm>
              <a:off x="0" y="-47625"/>
              <a:ext cx="156117" cy="19971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7429611" y="7877361"/>
            <a:ext cx="427597" cy="438623"/>
            <a:chOff x="0" y="0"/>
            <a:chExt cx="122593" cy="125754"/>
          </a:xfrm>
        </p:grpSpPr>
        <p:sp>
          <p:nvSpPr>
            <p:cNvPr name="Freeform 12" id="12"/>
            <p:cNvSpPr/>
            <p:nvPr/>
          </p:nvSpPr>
          <p:spPr>
            <a:xfrm flipH="false" flipV="false" rot="0">
              <a:off x="0" y="0"/>
              <a:ext cx="122593" cy="125754"/>
            </a:xfrm>
            <a:custGeom>
              <a:avLst/>
              <a:gdLst/>
              <a:ahLst/>
              <a:cxnLst/>
              <a:rect r="r" b="b" t="t" l="l"/>
              <a:pathLst>
                <a:path h="125754" w="122593">
                  <a:moveTo>
                    <a:pt x="0" y="0"/>
                  </a:moveTo>
                  <a:lnTo>
                    <a:pt x="122593" y="0"/>
                  </a:lnTo>
                  <a:lnTo>
                    <a:pt x="122593" y="125754"/>
                  </a:lnTo>
                  <a:lnTo>
                    <a:pt x="0" y="125754"/>
                  </a:lnTo>
                  <a:close/>
                </a:path>
              </a:pathLst>
            </a:custGeom>
            <a:solidFill>
              <a:srgbClr val="0054C5"/>
            </a:solidFill>
          </p:spPr>
        </p:sp>
        <p:sp>
          <p:nvSpPr>
            <p:cNvPr name="TextBox 13" id="13"/>
            <p:cNvSpPr txBox="true"/>
            <p:nvPr/>
          </p:nvSpPr>
          <p:spPr>
            <a:xfrm>
              <a:off x="0" y="-47625"/>
              <a:ext cx="122593" cy="173379"/>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6419142" y="8311975"/>
            <a:ext cx="311166" cy="308157"/>
            <a:chOff x="0" y="0"/>
            <a:chExt cx="89212" cy="88349"/>
          </a:xfrm>
        </p:grpSpPr>
        <p:sp>
          <p:nvSpPr>
            <p:cNvPr name="Freeform 15" id="15"/>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16" id="16"/>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5400000">
            <a:off x="7650336" y="3710081"/>
            <a:ext cx="311166" cy="308157"/>
            <a:chOff x="0" y="0"/>
            <a:chExt cx="89212" cy="88349"/>
          </a:xfrm>
        </p:grpSpPr>
        <p:sp>
          <p:nvSpPr>
            <p:cNvPr name="Freeform 18" id="18"/>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19" id="19"/>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7958493" y="4796599"/>
            <a:ext cx="311166" cy="308157"/>
            <a:chOff x="0" y="0"/>
            <a:chExt cx="89212" cy="88349"/>
          </a:xfrm>
        </p:grpSpPr>
        <p:sp>
          <p:nvSpPr>
            <p:cNvPr name="Freeform 21" id="21"/>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2" id="22"/>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5400000">
            <a:off x="7200821" y="4408923"/>
            <a:ext cx="311166" cy="308157"/>
            <a:chOff x="0" y="0"/>
            <a:chExt cx="89212" cy="88349"/>
          </a:xfrm>
        </p:grpSpPr>
        <p:sp>
          <p:nvSpPr>
            <p:cNvPr name="Freeform 24" id="24"/>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5" id="25"/>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7799836" y="343535"/>
            <a:ext cx="9187057" cy="1374776"/>
          </a:xfrm>
          <a:prstGeom prst="rect">
            <a:avLst/>
          </a:prstGeom>
        </p:spPr>
        <p:txBody>
          <a:bodyPr anchor="t" rtlCol="false" tIns="0" lIns="0" bIns="0" rIns="0">
            <a:spAutoFit/>
          </a:bodyPr>
          <a:lstStyle/>
          <a:p>
            <a:pPr algn="ctr" marL="0" indent="0" lvl="0">
              <a:lnSpc>
                <a:spcPts val="5599"/>
              </a:lnSpc>
              <a:spcBef>
                <a:spcPct val="0"/>
              </a:spcBef>
            </a:pPr>
            <a:r>
              <a:rPr lang="en-US" sz="3999">
                <a:solidFill>
                  <a:srgbClr val="FFFFFF"/>
                </a:solidFill>
                <a:latin typeface="Architype Van Der Leck"/>
                <a:ea typeface="Architype Van Der Leck"/>
                <a:cs typeface="Architype Van Der Leck"/>
                <a:sym typeface="Architype Van Der Leck"/>
              </a:rPr>
              <a:t>T</a:t>
            </a:r>
            <a:r>
              <a:rPr lang="en-US" sz="3999" strike="noStrike" u="none">
                <a:solidFill>
                  <a:srgbClr val="FFFFFF"/>
                </a:solidFill>
                <a:latin typeface="Architype Van Der Leck"/>
                <a:ea typeface="Architype Van Der Leck"/>
                <a:cs typeface="Architype Van Der Leck"/>
                <a:sym typeface="Architype Van Der Leck"/>
              </a:rPr>
              <a:t>rends in Modern Databases</a:t>
            </a:r>
          </a:p>
        </p:txBody>
      </p:sp>
      <p:sp>
        <p:nvSpPr>
          <p:cNvPr name="TextBox 27" id="27"/>
          <p:cNvSpPr txBox="true"/>
          <p:nvPr/>
        </p:nvSpPr>
        <p:spPr>
          <a:xfrm rot="0">
            <a:off x="8154325" y="1498600"/>
            <a:ext cx="8625931" cy="7759700"/>
          </a:xfrm>
          <a:prstGeom prst="rect">
            <a:avLst/>
          </a:prstGeom>
        </p:spPr>
        <p:txBody>
          <a:bodyPr anchor="t" rtlCol="false" tIns="0" lIns="0" bIns="0" rIns="0">
            <a:spAutoFit/>
          </a:bodyPr>
          <a:lstStyle/>
          <a:p>
            <a:pPr algn="just">
              <a:lnSpc>
                <a:spcPts val="3850"/>
              </a:lnSpc>
            </a:pPr>
          </a:p>
          <a:p>
            <a:pPr algn="just">
              <a:lnSpc>
                <a:spcPts val="3850"/>
              </a:lnSpc>
            </a:pPr>
            <a:r>
              <a:rPr lang="en-US" sz="2750">
                <a:solidFill>
                  <a:srgbClr val="FFFFFF"/>
                </a:solidFill>
                <a:latin typeface="Tomorrow"/>
                <a:ea typeface="Tomorrow"/>
                <a:cs typeface="Tomorrow"/>
                <a:sym typeface="Tomorrow"/>
              </a:rPr>
              <a:t> In today’s fast-paced digital w</a:t>
            </a:r>
            <a:r>
              <a:rPr lang="en-US" sz="2750">
                <a:solidFill>
                  <a:srgbClr val="FFFFFF"/>
                </a:solidFill>
                <a:latin typeface="Tomorrow"/>
                <a:ea typeface="Tomorrow"/>
                <a:cs typeface="Tomorrow"/>
                <a:sym typeface="Tomorrow"/>
              </a:rPr>
              <a:t>orld, data is one of the most valuable assets for businesses. Whether it’s used to understand customer behavior, improve operational efficiency, or drive decision-making, the ability to store, manage, and analyze data effectively is crucial. As technology advances, the demands placed on databases have grown, with businesses needing systems that can handle more data, more complex queries, and faster processing. The rise of cloud computing, big data, and artificial intelligence (AI) has made these needs even more pressing, pushing companies to rethink how they approach database management (N. Miryala, 2022).</a:t>
            </a:r>
          </a:p>
          <a:p>
            <a:pPr algn="just">
              <a:lnSpc>
                <a:spcPts val="385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7805919" y="1971696"/>
            <a:ext cx="9180974" cy="6862652"/>
            <a:chOff x="0" y="0"/>
            <a:chExt cx="2418034" cy="1807448"/>
          </a:xfrm>
        </p:grpSpPr>
        <p:sp>
          <p:nvSpPr>
            <p:cNvPr name="Freeform 4" id="4"/>
            <p:cNvSpPr/>
            <p:nvPr/>
          </p:nvSpPr>
          <p:spPr>
            <a:xfrm flipH="false" flipV="false" rot="0">
              <a:off x="0" y="0"/>
              <a:ext cx="2418034" cy="1807448"/>
            </a:xfrm>
            <a:custGeom>
              <a:avLst/>
              <a:gdLst/>
              <a:ahLst/>
              <a:cxnLst/>
              <a:rect r="r" b="b" t="t" l="l"/>
              <a:pathLst>
                <a:path h="1807448" w="2418034">
                  <a:moveTo>
                    <a:pt x="0" y="0"/>
                  </a:moveTo>
                  <a:lnTo>
                    <a:pt x="2418034" y="0"/>
                  </a:lnTo>
                  <a:lnTo>
                    <a:pt x="2418034" y="1807448"/>
                  </a:lnTo>
                  <a:lnTo>
                    <a:pt x="0" y="1807448"/>
                  </a:lnTo>
                  <a:close/>
                </a:path>
              </a:pathLst>
            </a:custGeom>
            <a:solidFill>
              <a:srgbClr val="FFFFFF">
                <a:alpha val="10980"/>
              </a:srgbClr>
            </a:solidFill>
          </p:spPr>
        </p:sp>
        <p:sp>
          <p:nvSpPr>
            <p:cNvPr name="TextBox 5" id="5"/>
            <p:cNvSpPr txBox="true"/>
            <p:nvPr/>
          </p:nvSpPr>
          <p:spPr>
            <a:xfrm>
              <a:off x="0" y="-47625"/>
              <a:ext cx="2418034" cy="1855073"/>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1035779" y="7073027"/>
            <a:ext cx="6304504" cy="3522642"/>
          </a:xfrm>
          <a:custGeom>
            <a:avLst/>
            <a:gdLst/>
            <a:ahLst/>
            <a:cxnLst/>
            <a:rect r="r" b="b" t="t" l="l"/>
            <a:pathLst>
              <a:path h="3522642" w="6304504">
                <a:moveTo>
                  <a:pt x="0" y="0"/>
                </a:moveTo>
                <a:lnTo>
                  <a:pt x="6304504" y="0"/>
                </a:lnTo>
                <a:lnTo>
                  <a:pt x="6304504" y="3522642"/>
                </a:lnTo>
                <a:lnTo>
                  <a:pt x="0" y="3522642"/>
                </a:lnTo>
                <a:lnTo>
                  <a:pt x="0" y="0"/>
                </a:lnTo>
                <a:close/>
              </a:path>
            </a:pathLst>
          </a:custGeom>
          <a:blipFill>
            <a:blip r:embed="rId3"/>
            <a:stretch>
              <a:fillRect l="0" t="0" r="0" b="0"/>
            </a:stretch>
          </a:blipFill>
        </p:spPr>
      </p:sp>
      <p:sp>
        <p:nvSpPr>
          <p:cNvPr name="Freeform 7" id="7"/>
          <p:cNvSpPr/>
          <p:nvPr/>
        </p:nvSpPr>
        <p:spPr>
          <a:xfrm flipH="false" flipV="false" rot="0">
            <a:off x="1633596" y="3245184"/>
            <a:ext cx="5273292" cy="4704316"/>
          </a:xfrm>
          <a:custGeom>
            <a:avLst/>
            <a:gdLst/>
            <a:ahLst/>
            <a:cxnLst/>
            <a:rect r="r" b="b" t="t" l="l"/>
            <a:pathLst>
              <a:path h="4704316" w="5273292">
                <a:moveTo>
                  <a:pt x="0" y="0"/>
                </a:moveTo>
                <a:lnTo>
                  <a:pt x="5273292" y="0"/>
                </a:lnTo>
                <a:lnTo>
                  <a:pt x="5273292" y="4704316"/>
                </a:lnTo>
                <a:lnTo>
                  <a:pt x="0" y="470431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5400000">
            <a:off x="16721788" y="7136129"/>
            <a:ext cx="544528" cy="530497"/>
            <a:chOff x="0" y="0"/>
            <a:chExt cx="156117" cy="152094"/>
          </a:xfrm>
        </p:grpSpPr>
        <p:sp>
          <p:nvSpPr>
            <p:cNvPr name="Freeform 9" id="9"/>
            <p:cNvSpPr/>
            <p:nvPr/>
          </p:nvSpPr>
          <p:spPr>
            <a:xfrm flipH="false" flipV="false" rot="0">
              <a:off x="0" y="0"/>
              <a:ext cx="156117" cy="152094"/>
            </a:xfrm>
            <a:custGeom>
              <a:avLst/>
              <a:gdLst/>
              <a:ahLst/>
              <a:cxnLst/>
              <a:rect r="r" b="b" t="t" l="l"/>
              <a:pathLst>
                <a:path h="152094" w="156117">
                  <a:moveTo>
                    <a:pt x="0" y="0"/>
                  </a:moveTo>
                  <a:lnTo>
                    <a:pt x="156117" y="0"/>
                  </a:lnTo>
                  <a:lnTo>
                    <a:pt x="156117" y="152094"/>
                  </a:lnTo>
                  <a:lnTo>
                    <a:pt x="0" y="152094"/>
                  </a:lnTo>
                  <a:close/>
                </a:path>
              </a:pathLst>
            </a:custGeom>
            <a:solidFill>
              <a:srgbClr val="0054C5"/>
            </a:solidFill>
          </p:spPr>
        </p:sp>
        <p:sp>
          <p:nvSpPr>
            <p:cNvPr name="TextBox 10" id="10"/>
            <p:cNvSpPr txBox="true"/>
            <p:nvPr/>
          </p:nvSpPr>
          <p:spPr>
            <a:xfrm>
              <a:off x="0" y="-47625"/>
              <a:ext cx="156117" cy="199719"/>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7429611" y="7877361"/>
            <a:ext cx="427597" cy="438623"/>
            <a:chOff x="0" y="0"/>
            <a:chExt cx="122593" cy="125754"/>
          </a:xfrm>
        </p:grpSpPr>
        <p:sp>
          <p:nvSpPr>
            <p:cNvPr name="Freeform 12" id="12"/>
            <p:cNvSpPr/>
            <p:nvPr/>
          </p:nvSpPr>
          <p:spPr>
            <a:xfrm flipH="false" flipV="false" rot="0">
              <a:off x="0" y="0"/>
              <a:ext cx="122593" cy="125754"/>
            </a:xfrm>
            <a:custGeom>
              <a:avLst/>
              <a:gdLst/>
              <a:ahLst/>
              <a:cxnLst/>
              <a:rect r="r" b="b" t="t" l="l"/>
              <a:pathLst>
                <a:path h="125754" w="122593">
                  <a:moveTo>
                    <a:pt x="0" y="0"/>
                  </a:moveTo>
                  <a:lnTo>
                    <a:pt x="122593" y="0"/>
                  </a:lnTo>
                  <a:lnTo>
                    <a:pt x="122593" y="125754"/>
                  </a:lnTo>
                  <a:lnTo>
                    <a:pt x="0" y="125754"/>
                  </a:lnTo>
                  <a:close/>
                </a:path>
              </a:pathLst>
            </a:custGeom>
            <a:solidFill>
              <a:srgbClr val="0054C5"/>
            </a:solidFill>
          </p:spPr>
        </p:sp>
        <p:sp>
          <p:nvSpPr>
            <p:cNvPr name="TextBox 13" id="13"/>
            <p:cNvSpPr txBox="true"/>
            <p:nvPr/>
          </p:nvSpPr>
          <p:spPr>
            <a:xfrm>
              <a:off x="0" y="-47625"/>
              <a:ext cx="122593" cy="173379"/>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16419142" y="8311975"/>
            <a:ext cx="311166" cy="308157"/>
            <a:chOff x="0" y="0"/>
            <a:chExt cx="89212" cy="88349"/>
          </a:xfrm>
        </p:grpSpPr>
        <p:sp>
          <p:nvSpPr>
            <p:cNvPr name="Freeform 15" id="15"/>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16" id="16"/>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5400000">
            <a:off x="7650336" y="3710081"/>
            <a:ext cx="311166" cy="308157"/>
            <a:chOff x="0" y="0"/>
            <a:chExt cx="89212" cy="88349"/>
          </a:xfrm>
        </p:grpSpPr>
        <p:sp>
          <p:nvSpPr>
            <p:cNvPr name="Freeform 18" id="18"/>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19" id="19"/>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5400000">
            <a:off x="7958493" y="4796599"/>
            <a:ext cx="311166" cy="308157"/>
            <a:chOff x="0" y="0"/>
            <a:chExt cx="89212" cy="88349"/>
          </a:xfrm>
        </p:grpSpPr>
        <p:sp>
          <p:nvSpPr>
            <p:cNvPr name="Freeform 21" id="21"/>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2" id="22"/>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5400000">
            <a:off x="7200821" y="4408923"/>
            <a:ext cx="311166" cy="308157"/>
            <a:chOff x="0" y="0"/>
            <a:chExt cx="89212" cy="88349"/>
          </a:xfrm>
        </p:grpSpPr>
        <p:sp>
          <p:nvSpPr>
            <p:cNvPr name="Freeform 24" id="24"/>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5" id="25"/>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7799836" y="343535"/>
            <a:ext cx="9187057" cy="1374776"/>
          </a:xfrm>
          <a:prstGeom prst="rect">
            <a:avLst/>
          </a:prstGeom>
        </p:spPr>
        <p:txBody>
          <a:bodyPr anchor="t" rtlCol="false" tIns="0" lIns="0" bIns="0" rIns="0">
            <a:spAutoFit/>
          </a:bodyPr>
          <a:lstStyle/>
          <a:p>
            <a:pPr algn="ctr" marL="0" indent="0" lvl="0">
              <a:lnSpc>
                <a:spcPts val="5599"/>
              </a:lnSpc>
              <a:spcBef>
                <a:spcPct val="0"/>
              </a:spcBef>
            </a:pPr>
            <a:r>
              <a:rPr lang="en-US" sz="3999">
                <a:solidFill>
                  <a:srgbClr val="FFFFFF"/>
                </a:solidFill>
                <a:latin typeface="Architype Van Der Leck"/>
                <a:ea typeface="Architype Van Der Leck"/>
                <a:cs typeface="Architype Van Der Leck"/>
                <a:sym typeface="Architype Van Der Leck"/>
              </a:rPr>
              <a:t>T</a:t>
            </a:r>
            <a:r>
              <a:rPr lang="en-US" sz="3999" strike="noStrike" u="none">
                <a:solidFill>
                  <a:srgbClr val="FFFFFF"/>
                </a:solidFill>
                <a:latin typeface="Architype Van Der Leck"/>
                <a:ea typeface="Architype Van Der Leck"/>
                <a:cs typeface="Architype Van Der Leck"/>
                <a:sym typeface="Architype Van Der Leck"/>
              </a:rPr>
              <a:t>rends in Modern Databases</a:t>
            </a:r>
          </a:p>
        </p:txBody>
      </p:sp>
      <p:sp>
        <p:nvSpPr>
          <p:cNvPr name="TextBox 27" id="27"/>
          <p:cNvSpPr txBox="true"/>
          <p:nvPr/>
        </p:nvSpPr>
        <p:spPr>
          <a:xfrm rot="0">
            <a:off x="8154325" y="2164428"/>
            <a:ext cx="8420400" cy="7314679"/>
          </a:xfrm>
          <a:prstGeom prst="rect">
            <a:avLst/>
          </a:prstGeom>
        </p:spPr>
        <p:txBody>
          <a:bodyPr anchor="t" rtlCol="false" tIns="0" lIns="0" bIns="0" rIns="0">
            <a:spAutoFit/>
          </a:bodyPr>
          <a:lstStyle/>
          <a:p>
            <a:pPr algn="just" marL="578458" indent="-289229" lvl="1">
              <a:lnSpc>
                <a:spcPts val="3750"/>
              </a:lnSpc>
              <a:buFont typeface="Arial"/>
              <a:buChar char="•"/>
            </a:pPr>
            <a:r>
              <a:rPr lang="en-US" sz="2679">
                <a:solidFill>
                  <a:srgbClr val="FFFFFF"/>
                </a:solidFill>
                <a:latin typeface="Tomorrow"/>
                <a:ea typeface="Tomorrow"/>
                <a:cs typeface="Tomorrow"/>
                <a:sym typeface="Tomorrow"/>
              </a:rPr>
              <a:t>C</a:t>
            </a:r>
            <a:r>
              <a:rPr lang="en-US" sz="2679">
                <a:solidFill>
                  <a:srgbClr val="FFFFFF"/>
                </a:solidFill>
                <a:latin typeface="Tomorrow"/>
                <a:ea typeface="Tomorrow"/>
                <a:cs typeface="Tomorrow"/>
                <a:sym typeface="Tomorrow"/>
              </a:rPr>
              <a:t>l</a:t>
            </a:r>
            <a:r>
              <a:rPr lang="en-US" sz="2679">
                <a:solidFill>
                  <a:srgbClr val="FFFFFF"/>
                </a:solidFill>
                <a:latin typeface="Tomorrow"/>
                <a:ea typeface="Tomorrow"/>
                <a:cs typeface="Tomorrow"/>
                <a:sym typeface="Tomorrow"/>
              </a:rPr>
              <a:t>oud databases offer flexibility and remote access.</a:t>
            </a:r>
          </a:p>
          <a:p>
            <a:pPr algn="just">
              <a:lnSpc>
                <a:spcPts val="3750"/>
              </a:lnSpc>
            </a:pPr>
          </a:p>
          <a:p>
            <a:pPr algn="just" marL="578458" indent="-289229" lvl="1">
              <a:lnSpc>
                <a:spcPts val="3750"/>
              </a:lnSpc>
              <a:buFont typeface="Arial"/>
              <a:buChar char="•"/>
            </a:pPr>
            <a:r>
              <a:rPr lang="en-US" sz="2679">
                <a:solidFill>
                  <a:srgbClr val="FFFFFF"/>
                </a:solidFill>
                <a:latin typeface="Tomorrow"/>
                <a:ea typeface="Tomorrow"/>
                <a:cs typeface="Tomorrow"/>
                <a:sym typeface="Tomorrow"/>
              </a:rPr>
              <a:t>Database-as-a-Service (DBaaS) like Firebase simplifies management.</a:t>
            </a:r>
          </a:p>
          <a:p>
            <a:pPr algn="just">
              <a:lnSpc>
                <a:spcPts val="3750"/>
              </a:lnSpc>
            </a:pPr>
          </a:p>
          <a:p>
            <a:pPr algn="just" marL="578458" indent="-289229" lvl="1">
              <a:lnSpc>
                <a:spcPts val="3750"/>
              </a:lnSpc>
              <a:buFont typeface="Arial"/>
              <a:buChar char="•"/>
            </a:pPr>
            <a:r>
              <a:rPr lang="en-US" sz="2679">
                <a:solidFill>
                  <a:srgbClr val="FFFFFF"/>
                </a:solidFill>
                <a:latin typeface="Tomorrow"/>
                <a:ea typeface="Tomorrow"/>
                <a:cs typeface="Tomorrow"/>
                <a:sym typeface="Tomorrow"/>
              </a:rPr>
              <a:t>Big Data integration combines large datasets for insights.</a:t>
            </a:r>
          </a:p>
          <a:p>
            <a:pPr algn="just">
              <a:lnSpc>
                <a:spcPts val="3750"/>
              </a:lnSpc>
            </a:pPr>
          </a:p>
          <a:p>
            <a:pPr algn="just" marL="578458" indent="-289229" lvl="1">
              <a:lnSpc>
                <a:spcPts val="3750"/>
              </a:lnSpc>
              <a:buFont typeface="Arial"/>
              <a:buChar char="•"/>
            </a:pPr>
            <a:r>
              <a:rPr lang="en-US" sz="2679">
                <a:solidFill>
                  <a:srgbClr val="FFFFFF"/>
                </a:solidFill>
                <a:latin typeface="Tomorrow"/>
                <a:ea typeface="Tomorrow"/>
                <a:cs typeface="Tomorrow"/>
                <a:sym typeface="Tomorrow"/>
              </a:rPr>
              <a:t>AI in DBMS helps with automation, optimization, and predictive analytics.</a:t>
            </a:r>
          </a:p>
          <a:p>
            <a:pPr algn="just">
              <a:lnSpc>
                <a:spcPts val="3750"/>
              </a:lnSpc>
            </a:pPr>
          </a:p>
          <a:p>
            <a:pPr algn="just" marL="578458" indent="-289229" lvl="1">
              <a:lnSpc>
                <a:spcPts val="3750"/>
              </a:lnSpc>
              <a:buFont typeface="Arial"/>
              <a:buChar char="•"/>
            </a:pPr>
            <a:r>
              <a:rPr lang="en-US" sz="2679">
                <a:solidFill>
                  <a:srgbClr val="FFFFFF"/>
                </a:solidFill>
                <a:latin typeface="Tomorrow"/>
                <a:ea typeface="Tomorrow"/>
                <a:cs typeface="Tomorrow"/>
                <a:sym typeface="Tomorrow"/>
              </a:rPr>
              <a:t>Distributed databases improve performance and fault tolerance.</a:t>
            </a:r>
          </a:p>
          <a:p>
            <a:pPr algn="just">
              <a:lnSpc>
                <a:spcPts val="2606"/>
              </a:lnSpc>
            </a:pPr>
          </a:p>
          <a:p>
            <a:pPr algn="just">
              <a:lnSpc>
                <a:spcPts val="2606"/>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8888" r="0" b="-38888"/>
            </a:stretch>
          </a:blipFill>
        </p:spPr>
      </p:sp>
      <p:grpSp>
        <p:nvGrpSpPr>
          <p:cNvPr name="Group 3" id="3"/>
          <p:cNvGrpSpPr/>
          <p:nvPr/>
        </p:nvGrpSpPr>
        <p:grpSpPr>
          <a:xfrm rot="0">
            <a:off x="826966" y="1122224"/>
            <a:ext cx="11088353" cy="8609917"/>
            <a:chOff x="0" y="0"/>
            <a:chExt cx="2920389" cy="2267632"/>
          </a:xfrm>
        </p:grpSpPr>
        <p:sp>
          <p:nvSpPr>
            <p:cNvPr name="Freeform 4" id="4"/>
            <p:cNvSpPr/>
            <p:nvPr/>
          </p:nvSpPr>
          <p:spPr>
            <a:xfrm flipH="false" flipV="false" rot="0">
              <a:off x="0" y="0"/>
              <a:ext cx="2920389" cy="2267632"/>
            </a:xfrm>
            <a:custGeom>
              <a:avLst/>
              <a:gdLst/>
              <a:ahLst/>
              <a:cxnLst/>
              <a:rect r="r" b="b" t="t" l="l"/>
              <a:pathLst>
                <a:path h="2267632" w="2920389">
                  <a:moveTo>
                    <a:pt x="0" y="0"/>
                  </a:moveTo>
                  <a:lnTo>
                    <a:pt x="2920389" y="0"/>
                  </a:lnTo>
                  <a:lnTo>
                    <a:pt x="2920389" y="2267632"/>
                  </a:lnTo>
                  <a:lnTo>
                    <a:pt x="0" y="2267632"/>
                  </a:lnTo>
                  <a:close/>
                </a:path>
              </a:pathLst>
            </a:custGeom>
            <a:solidFill>
              <a:srgbClr val="FFFFFF">
                <a:alpha val="10980"/>
              </a:srgbClr>
            </a:solidFill>
          </p:spPr>
        </p:sp>
        <p:sp>
          <p:nvSpPr>
            <p:cNvPr name="TextBox 5" id="5"/>
            <p:cNvSpPr txBox="true"/>
            <p:nvPr/>
          </p:nvSpPr>
          <p:spPr>
            <a:xfrm>
              <a:off x="0" y="-47625"/>
              <a:ext cx="2920389" cy="231525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36199" y="251623"/>
            <a:ext cx="7614460" cy="870602"/>
          </a:xfrm>
          <a:prstGeom prst="rect">
            <a:avLst/>
          </a:prstGeom>
        </p:spPr>
        <p:txBody>
          <a:bodyPr anchor="t" rtlCol="false" tIns="0" lIns="0" bIns="0" rIns="0">
            <a:spAutoFit/>
          </a:bodyPr>
          <a:lstStyle/>
          <a:p>
            <a:pPr algn="l" marL="0" indent="0" lvl="0">
              <a:lnSpc>
                <a:spcPts val="7139"/>
              </a:lnSpc>
              <a:spcBef>
                <a:spcPct val="0"/>
              </a:spcBef>
            </a:pPr>
            <a:r>
              <a:rPr lang="en-US" sz="5099" strike="noStrike" u="none">
                <a:solidFill>
                  <a:srgbClr val="FFFFFF"/>
                </a:solidFill>
                <a:latin typeface="Architype Van Der Leck"/>
                <a:ea typeface="Architype Van Der Leck"/>
                <a:cs typeface="Architype Van Der Leck"/>
                <a:sym typeface="Architype Van Der Leck"/>
              </a:rPr>
              <a:t>Conclusion</a:t>
            </a:r>
          </a:p>
        </p:txBody>
      </p:sp>
      <p:sp>
        <p:nvSpPr>
          <p:cNvPr name="Freeform 7" id="7"/>
          <p:cNvSpPr/>
          <p:nvPr/>
        </p:nvSpPr>
        <p:spPr>
          <a:xfrm flipH="false" flipV="false" rot="0">
            <a:off x="11915319" y="2883545"/>
            <a:ext cx="5080002" cy="5364538"/>
          </a:xfrm>
          <a:custGeom>
            <a:avLst/>
            <a:gdLst/>
            <a:ahLst/>
            <a:cxnLst/>
            <a:rect r="r" b="b" t="t" l="l"/>
            <a:pathLst>
              <a:path h="5364538" w="5080002">
                <a:moveTo>
                  <a:pt x="0" y="0"/>
                </a:moveTo>
                <a:lnTo>
                  <a:pt x="5080003" y="0"/>
                </a:lnTo>
                <a:lnTo>
                  <a:pt x="5080003" y="5364538"/>
                </a:lnTo>
                <a:lnTo>
                  <a:pt x="0" y="536453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false" rot="-10800000">
            <a:off x="12573026" y="-639096"/>
            <a:ext cx="6304504" cy="3522642"/>
          </a:xfrm>
          <a:custGeom>
            <a:avLst/>
            <a:gdLst/>
            <a:ahLst/>
            <a:cxnLst/>
            <a:rect r="r" b="b" t="t" l="l"/>
            <a:pathLst>
              <a:path h="3522642" w="6304504">
                <a:moveTo>
                  <a:pt x="0" y="0"/>
                </a:moveTo>
                <a:lnTo>
                  <a:pt x="6304504" y="0"/>
                </a:lnTo>
                <a:lnTo>
                  <a:pt x="6304504" y="3522641"/>
                </a:lnTo>
                <a:lnTo>
                  <a:pt x="0" y="3522641"/>
                </a:lnTo>
                <a:lnTo>
                  <a:pt x="0" y="0"/>
                </a:lnTo>
                <a:close/>
              </a:path>
            </a:pathLst>
          </a:custGeom>
          <a:blipFill>
            <a:blip r:embed="rId5"/>
            <a:stretch>
              <a:fillRect l="0" t="0" r="0" b="0"/>
            </a:stretch>
          </a:blipFill>
        </p:spPr>
      </p:sp>
      <p:grpSp>
        <p:nvGrpSpPr>
          <p:cNvPr name="Group 9" id="9"/>
          <p:cNvGrpSpPr/>
          <p:nvPr/>
        </p:nvGrpSpPr>
        <p:grpSpPr>
          <a:xfrm rot="-10800000">
            <a:off x="282438" y="4083269"/>
            <a:ext cx="544528" cy="530497"/>
            <a:chOff x="0" y="0"/>
            <a:chExt cx="156117" cy="152094"/>
          </a:xfrm>
        </p:grpSpPr>
        <p:sp>
          <p:nvSpPr>
            <p:cNvPr name="Freeform 10" id="10"/>
            <p:cNvSpPr/>
            <p:nvPr/>
          </p:nvSpPr>
          <p:spPr>
            <a:xfrm flipH="false" flipV="false" rot="0">
              <a:off x="0" y="0"/>
              <a:ext cx="156117" cy="152094"/>
            </a:xfrm>
            <a:custGeom>
              <a:avLst/>
              <a:gdLst/>
              <a:ahLst/>
              <a:cxnLst/>
              <a:rect r="r" b="b" t="t" l="l"/>
              <a:pathLst>
                <a:path h="152094" w="156117">
                  <a:moveTo>
                    <a:pt x="0" y="0"/>
                  </a:moveTo>
                  <a:lnTo>
                    <a:pt x="156117" y="0"/>
                  </a:lnTo>
                  <a:lnTo>
                    <a:pt x="156117" y="152094"/>
                  </a:lnTo>
                  <a:lnTo>
                    <a:pt x="0" y="152094"/>
                  </a:lnTo>
                  <a:close/>
                </a:path>
              </a:pathLst>
            </a:custGeom>
            <a:solidFill>
              <a:srgbClr val="0054C5"/>
            </a:solidFill>
          </p:spPr>
        </p:sp>
        <p:sp>
          <p:nvSpPr>
            <p:cNvPr name="TextBox 11" id="11"/>
            <p:cNvSpPr txBox="true"/>
            <p:nvPr/>
          </p:nvSpPr>
          <p:spPr>
            <a:xfrm>
              <a:off x="0" y="-47625"/>
              <a:ext cx="156117" cy="199719"/>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10800000">
            <a:off x="1036199" y="3479849"/>
            <a:ext cx="427597" cy="438623"/>
            <a:chOff x="0" y="0"/>
            <a:chExt cx="122593" cy="125754"/>
          </a:xfrm>
        </p:grpSpPr>
        <p:sp>
          <p:nvSpPr>
            <p:cNvPr name="Freeform 13" id="13"/>
            <p:cNvSpPr/>
            <p:nvPr/>
          </p:nvSpPr>
          <p:spPr>
            <a:xfrm flipH="false" flipV="false" rot="0">
              <a:off x="0" y="0"/>
              <a:ext cx="122593" cy="125754"/>
            </a:xfrm>
            <a:custGeom>
              <a:avLst/>
              <a:gdLst/>
              <a:ahLst/>
              <a:cxnLst/>
              <a:rect r="r" b="b" t="t" l="l"/>
              <a:pathLst>
                <a:path h="125754" w="122593">
                  <a:moveTo>
                    <a:pt x="0" y="0"/>
                  </a:moveTo>
                  <a:lnTo>
                    <a:pt x="122593" y="0"/>
                  </a:lnTo>
                  <a:lnTo>
                    <a:pt x="122593" y="125754"/>
                  </a:lnTo>
                  <a:lnTo>
                    <a:pt x="0" y="125754"/>
                  </a:lnTo>
                  <a:close/>
                </a:path>
              </a:pathLst>
            </a:custGeom>
            <a:solidFill>
              <a:srgbClr val="0054C5"/>
            </a:solidFill>
          </p:spPr>
        </p:sp>
        <p:sp>
          <p:nvSpPr>
            <p:cNvPr name="TextBox 14" id="14"/>
            <p:cNvSpPr txBox="true"/>
            <p:nvPr/>
          </p:nvSpPr>
          <p:spPr>
            <a:xfrm>
              <a:off x="0" y="-47625"/>
              <a:ext cx="122593" cy="173379"/>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10800000">
            <a:off x="1463796" y="4613766"/>
            <a:ext cx="311166" cy="308157"/>
            <a:chOff x="0" y="0"/>
            <a:chExt cx="89212" cy="88349"/>
          </a:xfrm>
        </p:grpSpPr>
        <p:sp>
          <p:nvSpPr>
            <p:cNvPr name="Freeform 16" id="16"/>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17" id="17"/>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10800000">
            <a:off x="9995875" y="6968307"/>
            <a:ext cx="427597" cy="438623"/>
            <a:chOff x="0" y="0"/>
            <a:chExt cx="122593" cy="125754"/>
          </a:xfrm>
        </p:grpSpPr>
        <p:sp>
          <p:nvSpPr>
            <p:cNvPr name="Freeform 19" id="19"/>
            <p:cNvSpPr/>
            <p:nvPr/>
          </p:nvSpPr>
          <p:spPr>
            <a:xfrm flipH="false" flipV="false" rot="0">
              <a:off x="0" y="0"/>
              <a:ext cx="122593" cy="125754"/>
            </a:xfrm>
            <a:custGeom>
              <a:avLst/>
              <a:gdLst/>
              <a:ahLst/>
              <a:cxnLst/>
              <a:rect r="r" b="b" t="t" l="l"/>
              <a:pathLst>
                <a:path h="125754" w="122593">
                  <a:moveTo>
                    <a:pt x="0" y="0"/>
                  </a:moveTo>
                  <a:lnTo>
                    <a:pt x="122593" y="0"/>
                  </a:lnTo>
                  <a:lnTo>
                    <a:pt x="122593" y="125754"/>
                  </a:lnTo>
                  <a:lnTo>
                    <a:pt x="0" y="125754"/>
                  </a:lnTo>
                  <a:close/>
                </a:path>
              </a:pathLst>
            </a:custGeom>
            <a:solidFill>
              <a:srgbClr val="0054C5"/>
            </a:solidFill>
          </p:spPr>
        </p:sp>
        <p:sp>
          <p:nvSpPr>
            <p:cNvPr name="TextBox 20" id="20"/>
            <p:cNvSpPr txBox="true"/>
            <p:nvPr/>
          </p:nvSpPr>
          <p:spPr>
            <a:xfrm>
              <a:off x="0" y="-47625"/>
              <a:ext cx="122593" cy="173379"/>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10800000">
            <a:off x="10670249" y="7717117"/>
            <a:ext cx="311166" cy="308157"/>
            <a:chOff x="0" y="0"/>
            <a:chExt cx="89212" cy="88349"/>
          </a:xfrm>
        </p:grpSpPr>
        <p:sp>
          <p:nvSpPr>
            <p:cNvPr name="Freeform 22" id="22"/>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3" id="23"/>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grpSp>
        <p:nvGrpSpPr>
          <p:cNvPr name="Group 24" id="24"/>
          <p:cNvGrpSpPr/>
          <p:nvPr/>
        </p:nvGrpSpPr>
        <p:grpSpPr>
          <a:xfrm rot="-10800000">
            <a:off x="9527771" y="8248083"/>
            <a:ext cx="311166" cy="308157"/>
            <a:chOff x="0" y="0"/>
            <a:chExt cx="89212" cy="88349"/>
          </a:xfrm>
        </p:grpSpPr>
        <p:sp>
          <p:nvSpPr>
            <p:cNvPr name="Freeform 25" id="25"/>
            <p:cNvSpPr/>
            <p:nvPr/>
          </p:nvSpPr>
          <p:spPr>
            <a:xfrm flipH="false" flipV="false" rot="0">
              <a:off x="0" y="0"/>
              <a:ext cx="89212" cy="88349"/>
            </a:xfrm>
            <a:custGeom>
              <a:avLst/>
              <a:gdLst/>
              <a:ahLst/>
              <a:cxnLst/>
              <a:rect r="r" b="b" t="t" l="l"/>
              <a:pathLst>
                <a:path h="88349" w="89212">
                  <a:moveTo>
                    <a:pt x="0" y="0"/>
                  </a:moveTo>
                  <a:lnTo>
                    <a:pt x="89212" y="0"/>
                  </a:lnTo>
                  <a:lnTo>
                    <a:pt x="89212" y="88349"/>
                  </a:lnTo>
                  <a:lnTo>
                    <a:pt x="0" y="88349"/>
                  </a:lnTo>
                  <a:close/>
                </a:path>
              </a:pathLst>
            </a:custGeom>
            <a:solidFill>
              <a:srgbClr val="0054C5"/>
            </a:solidFill>
          </p:spPr>
        </p:sp>
        <p:sp>
          <p:nvSpPr>
            <p:cNvPr name="TextBox 26" id="26"/>
            <p:cNvSpPr txBox="true"/>
            <p:nvPr/>
          </p:nvSpPr>
          <p:spPr>
            <a:xfrm>
              <a:off x="0" y="-47625"/>
              <a:ext cx="89212" cy="135974"/>
            </a:xfrm>
            <a:prstGeom prst="rect">
              <a:avLst/>
            </a:prstGeom>
          </p:spPr>
          <p:txBody>
            <a:bodyPr anchor="ctr" rtlCol="false" tIns="50800" lIns="50800" bIns="50800" rIns="50800"/>
            <a:lstStyle/>
            <a:p>
              <a:pPr algn="ctr">
                <a:lnSpc>
                  <a:spcPts val="2659"/>
                </a:lnSpc>
              </a:pPr>
            </a:p>
          </p:txBody>
        </p:sp>
      </p:grpSp>
      <p:sp>
        <p:nvSpPr>
          <p:cNvPr name="TextBox 27" id="27"/>
          <p:cNvSpPr txBox="true"/>
          <p:nvPr/>
        </p:nvSpPr>
        <p:spPr>
          <a:xfrm rot="0">
            <a:off x="1048101" y="1203691"/>
            <a:ext cx="10495160" cy="8415717"/>
          </a:xfrm>
          <a:prstGeom prst="rect">
            <a:avLst/>
          </a:prstGeom>
        </p:spPr>
        <p:txBody>
          <a:bodyPr anchor="t" rtlCol="false" tIns="0" lIns="0" bIns="0" rIns="0">
            <a:spAutoFit/>
          </a:bodyPr>
          <a:lstStyle/>
          <a:p>
            <a:pPr algn="just">
              <a:lnSpc>
                <a:spcPts val="3916"/>
              </a:lnSpc>
              <a:spcBef>
                <a:spcPct val="0"/>
              </a:spcBef>
            </a:pPr>
            <a:r>
              <a:rPr lang="en-US" sz="2797">
                <a:solidFill>
                  <a:srgbClr val="FFFFFF"/>
                </a:solidFill>
                <a:latin typeface="Tomorrow"/>
                <a:ea typeface="Tomorrow"/>
                <a:cs typeface="Tomorrow"/>
                <a:sym typeface="Tomorrow"/>
              </a:rPr>
              <a:t>          </a:t>
            </a:r>
            <a:r>
              <a:rPr lang="en-US" sz="2797">
                <a:solidFill>
                  <a:srgbClr val="FFFFFF"/>
                </a:solidFill>
                <a:latin typeface="Tomorrow"/>
                <a:ea typeface="Tomorrow"/>
                <a:cs typeface="Tomorrow"/>
                <a:sym typeface="Tomorrow"/>
              </a:rPr>
              <a:t>Databases are a foundational part of the digital age. From websites and apps to entire industries, the ability to store and manage data efficiently is essential. Understanding how databases work is not only valuable for IT professionals but for anyone living in an increasingly data-driven world. Whether you're building software, analyzing trends, or just curious—learning about databases opens up a world of possibilities. In an era where data powers every aspect of our digital lives, databases stand as the unsung heroes behind seamless online experiences, informed decision-making, and technological innovation. In a whole, this article has explored the fundamental concepts of databases—from their basic components and diverse types (such as relational and NoSQL systems) to advanced topics like SQL querying, database management systems, design best practices, security measures, and emerging trends in cloud computing and AI integration.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DAG2VHj47F4</dc:identifier>
  <dcterms:modified xsi:type="dcterms:W3CDTF">2011-08-01T06:04:30Z</dcterms:modified>
  <cp:revision>1</cp:revision>
  <dc:title>TECHNICHAL ENGLISH PPT </dc:title>
</cp:coreProperties>
</file>